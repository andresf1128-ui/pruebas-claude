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Valor $/ha (millones)</c:v>
                </c:pt>
              </c:strCache>
            </c:strRef>
          </c:tx>
          <c:spPr>
            <a:solidFill>
              <a:srgbClr val="2F5597"/>
            </a:solidFill>
          </c:spPr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BFBFBF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BFBFBF"/>
              </a:solidFill>
            </c:spPr>
          </c:dPt>
          <c:dPt>
            <c:idx val="4"/>
            <c:spPr>
              <a:solidFill>
                <a:srgbClr val="BFBFBF"/>
              </a:solidFill>
            </c:spPr>
          </c:dPt>
          <c:dPt>
            <c:idx val="5"/>
            <c:spPr>
              <a:solidFill>
                <a:srgbClr val="BFBFBF"/>
              </a:solidFill>
            </c:spPr>
          </c:dPt>
          <c:dPt>
            <c:idx val="6"/>
            <c:spPr>
              <a:solidFill>
                <a:srgbClr val="BFBFBF"/>
              </a:solidFill>
            </c:spPr>
          </c:dPt>
          <c:dPt>
            <c:idx val="7"/>
            <c:spPr>
              <a:solidFill>
                <a:srgbClr val="BFBFBF"/>
              </a:solidFill>
            </c:spPr>
          </c:dPt>
          <c:dLbls>
            <c:numFmt formatCode="#,##0.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Of. 1</c:v>
                </c:pt>
                <c:pt idx="1">
                  <c:v>Of. 2</c:v>
                </c:pt>
                <c:pt idx="2">
                  <c:v>Of. 3</c:v>
                </c:pt>
                <c:pt idx="3">
                  <c:v>Of. 4</c:v>
                </c:pt>
                <c:pt idx="4">
                  <c:v>Of. 5</c:v>
                </c:pt>
                <c:pt idx="5">
                  <c:v>Of. 6</c:v>
                </c:pt>
                <c:pt idx="6">
                  <c:v>Of. 7</c:v>
                </c:pt>
                <c:pt idx="7">
                  <c:v>Of.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23.4</c:v>
                </c:pt>
                <c:pt idx="1">
                  <c:v>1250.0</c:v>
                </c:pt>
                <c:pt idx="2">
                  <c:v>495.0</c:v>
                </c:pt>
                <c:pt idx="3">
                  <c:v>675.0</c:v>
                </c:pt>
                <c:pt idx="4">
                  <c:v>405.0</c:v>
                </c:pt>
                <c:pt idx="5">
                  <c:v>720.0</c:v>
                </c:pt>
                <c:pt idx="6">
                  <c:v>27.0</c:v>
                </c:pt>
                <c:pt idx="7">
                  <c:v>1.575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Valor adoptado</c:v>
                </c:pt>
              </c:strCache>
            </c:strRef>
          </c:tx>
          <c:spPr>
            <a:solidFill>
              <a:srgbClr val="92D050"/>
            </a:solidFill>
          </c:spPr>
          <c:cat>
            <c:strRef>
              <c:f>Sheet1!$A$2:$A$9</c:f>
              <c:strCache>
                <c:ptCount val="8"/>
                <c:pt idx="0">
                  <c:v>Of. 1</c:v>
                </c:pt>
                <c:pt idx="1">
                  <c:v>Of. 2</c:v>
                </c:pt>
                <c:pt idx="2">
                  <c:v>Of. 3</c:v>
                </c:pt>
                <c:pt idx="3">
                  <c:v>Of. 4</c:v>
                </c:pt>
                <c:pt idx="4">
                  <c:v>Of. 5</c:v>
                </c:pt>
                <c:pt idx="5">
                  <c:v>Of. 6</c:v>
                </c:pt>
                <c:pt idx="6">
                  <c:v>Of. 7</c:v>
                </c:pt>
                <c:pt idx="7">
                  <c:v>Of. 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449.622</c:v>
                </c:pt>
                <c:pt idx="1">
                  <c:v>449.622</c:v>
                </c:pt>
                <c:pt idx="2">
                  <c:v>449.622</c:v>
                </c:pt>
                <c:pt idx="3">
                  <c:v>449.622</c:v>
                </c:pt>
                <c:pt idx="4">
                  <c:v>449.622</c:v>
                </c:pt>
                <c:pt idx="5">
                  <c:v>449.622</c:v>
                </c:pt>
                <c:pt idx="6">
                  <c:v>449.622</c:v>
                </c:pt>
                <c:pt idx="7">
                  <c:v>449.622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  <c:min val="1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Coeficiente de variación</c:v>
                </c:pt>
              </c:strCache>
            </c:strRef>
          </c:tx>
          <c:spPr>
            <a:solidFill>
              <a:srgbClr val="1F3864"/>
            </a:solidFill>
          </c:spPr>
          <c:dLbls>
            <c:numFmt formatCode="0.0%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Comb. 1</c:v>
                </c:pt>
                <c:pt idx="1">
                  <c:v>Comb. 2</c:v>
                </c:pt>
                <c:pt idx="2">
                  <c:v>Comb.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0.189</c:v>
                </c:pt>
                <c:pt idx="1">
                  <c:v>0.2591</c:v>
                </c:pt>
                <c:pt idx="2">
                  <c:v>0.2619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CV máximo admisible</c:v>
                </c:pt>
              </c:strCache>
            </c:strRef>
          </c:tx>
          <c:spPr>
            <a:solidFill>
              <a:srgbClr val="92D050"/>
            </a:solidFill>
          </c:spPr>
          <c:cat>
            <c:strRef>
              <c:f>Sheet1!$A$2:$A$4</c:f>
              <c:strCache>
                <c:ptCount val="3"/>
                <c:pt idx="0">
                  <c:v>Comb. 1</c:v>
                </c:pt>
                <c:pt idx="1">
                  <c:v>Comb. 2</c:v>
                </c:pt>
                <c:pt idx="2">
                  <c:v>Comb.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0%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Reposición vs. valor depreciado ($ miles por m²)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Reposición $/m²</c:v>
                </c:pt>
              </c:strCache>
            </c:strRef>
          </c:tx>
          <c:spPr>
            <a:solidFill>
              <a:srgbClr val="BFBFBF"/>
            </a:solidFill>
          </c:spPr>
          <c:cat>
            <c:strRef>
              <c:f>Sheet1!$A$2:$A$7</c:f>
              <c:strCache>
                <c:ptCount val="6"/>
                <c:pt idx="0">
                  <c:v>Casa Principal</c:v>
                </c:pt>
                <c:pt idx="1">
                  <c:v>Casa Mayordomo</c:v>
                </c:pt>
                <c:pt idx="2">
                  <c:v>Casa pequeña</c:v>
                </c:pt>
                <c:pt idx="3">
                  <c:v>Bodega principal</c:v>
                </c:pt>
                <c:pt idx="4">
                  <c:v>Bodega auxiliar</c:v>
                </c:pt>
                <c:pt idx="5">
                  <c:v>Cuarto útil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1131.4</c:v>
                </c:pt>
                <c:pt idx="1">
                  <c:v>1131.4</c:v>
                </c:pt>
                <c:pt idx="2">
                  <c:v>1131.4</c:v>
                </c:pt>
                <c:pt idx="3">
                  <c:v>1286.778</c:v>
                </c:pt>
                <c:pt idx="4">
                  <c:v>1286.778</c:v>
                </c:pt>
                <c:pt idx="5">
                  <c:v>1231.701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Valor depreciado $/m²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Sheet1!$A$2:$A$7</c:f>
              <c:strCache>
                <c:ptCount val="6"/>
                <c:pt idx="0">
                  <c:v>Casa Principal</c:v>
                </c:pt>
                <c:pt idx="1">
                  <c:v>Casa Mayordomo</c:v>
                </c:pt>
                <c:pt idx="2">
                  <c:v>Casa pequeña</c:v>
                </c:pt>
                <c:pt idx="3">
                  <c:v>Bodega principal</c:v>
                </c:pt>
                <c:pt idx="4">
                  <c:v>Bodega auxiliar</c:v>
                </c:pt>
                <c:pt idx="5">
                  <c:v>Cuarto útil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722.0</c:v>
                </c:pt>
                <c:pt idx="1">
                  <c:v>524.0</c:v>
                </c:pt>
                <c:pt idx="2">
                  <c:v>573.0</c:v>
                </c:pt>
                <c:pt idx="3">
                  <c:v>423.0</c:v>
                </c:pt>
                <c:pt idx="4">
                  <c:v>317.0</c:v>
                </c:pt>
                <c:pt idx="5">
                  <c:v>700.0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Valor</c:v>
                </c:pt>
              </c:strCache>
            </c:strRef>
          </c:tx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2F5597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cat>
            <c:strRef>
              <c:f>Sheet1!$A$2:$A$4</c:f>
              <c:strCache>
                <c:ptCount val="3"/>
                <c:pt idx="0">
                  <c:v>Terreno</c:v>
                </c:pt>
                <c:pt idx="1">
                  <c:v>Constr. principal</c:v>
                </c:pt>
                <c:pt idx="2">
                  <c:v>Constr. anexas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899.2438</c:v>
                </c:pt>
                <c:pt idx="1">
                  <c:v>70.034</c:v>
                </c:pt>
                <c:pt idx="2">
                  <c:v>102.63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182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728" cy="214884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2296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BFBFBF"/>
                </a:solidFill>
                <a:latin typeface="Calibri"/>
              </a:rPr>
              <a:t>GESTIÓN VALUATORIA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Estudio de mercado</a:t>
            </a:r>
          </a:p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predios rurales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0">
                <a:solidFill>
                  <a:srgbClr val="D9D9D9"/>
                </a:solidFill>
                <a:latin typeface="Calibri"/>
              </a:rPr>
              <a:t>Predio rural, sector Puente Bomba – El Ebanal (corr. Tigreras)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BFBFBF"/>
                </a:solidFill>
                <a:latin typeface="Calibri"/>
              </a:rPr>
              <a:t>RIOHACHA (confirmar con número predial) · LA GUAJIRA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074920"/>
            <a:ext cx="822960" cy="4572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21208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BFBFBF"/>
                </a:solidFill>
                <a:latin typeface="Calibri"/>
              </a:rPr>
              <a:t>Avaluador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4864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Andrés Felipe Cuartas Montoya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4360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E2EFDA"/>
                </a:solidFill>
                <a:latin typeface="Calibri"/>
              </a:rPr>
              <a:t>RAA 1.128.391.782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52120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 i="0">
                <a:solidFill>
                  <a:srgbClr val="BFBFBF"/>
                </a:solidFill>
                <a:latin typeface="Calibri"/>
              </a:rPr>
              <a:t>Fecha del estudio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548640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2400" b="1" i="0">
                <a:solidFill>
                  <a:srgbClr val="FFFFFF"/>
                </a:solidFill>
                <a:latin typeface="Calibri"/>
              </a:rPr>
              <a:t>01/10/2026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594360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300" b="0" i="0">
                <a:solidFill>
                  <a:srgbClr val="BFBFBF"/>
                </a:solidFill>
                <a:latin typeface="Calibri"/>
              </a:rPr>
              <a:t>Solicitante: (Por definir)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Resumen ejecutivo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D9D9D9"/>
                </a:solidFill>
                <a:latin typeface="Calibri"/>
              </a:rPr>
              <a:t>Resultado del estudio y estado frente a la Res. 941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400" b="1" i="0">
                <a:solidFill>
                  <a:srgbClr val="D9D9D9"/>
                </a:solidFill>
                <a:latin typeface="Calibri"/>
              </a:rPr>
              <a:t>02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  <a:latin typeface="Calibri"/>
              </a:rPr>
              <a:t>Andrés Felipe Cuartas Montoya · RAA 1.128.391.782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6519672"/>
            <a:ext cx="3749039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· Gestión valuatoria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2743200" cy="128016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80160"/>
            <a:ext cx="73152" cy="12801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353312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VALOR TOTAL DEL AVALÚO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664208"/>
            <a:ext cx="246888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 i="0">
                <a:solidFill>
                  <a:srgbClr val="1F3864"/>
                </a:solidFill>
                <a:latin typeface="Calibri"/>
              </a:rPr>
              <a:t>$ 1.071,9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1280160"/>
            <a:ext cx="2743200" cy="128016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1280160"/>
            <a:ext cx="73152" cy="12801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1353312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VALOR ADOPTADO TERRENO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1664208"/>
            <a:ext cx="246888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400" b="1" i="0">
                <a:solidFill>
                  <a:srgbClr val="1F3864"/>
                </a:solidFill>
                <a:latin typeface="Calibri"/>
              </a:rPr>
              <a:t>$ 449,6 M /ha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280160"/>
            <a:ext cx="2743200" cy="12801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280160"/>
            <a:ext cx="73152" cy="12801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353312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OFERTAS EN LA TABLA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664208"/>
            <a:ext cx="246888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8 · 1 vigente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1280160"/>
            <a:ext cx="2651760" cy="128016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280" y="1280160"/>
            <a:ext cx="73152" cy="12801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1353312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CV MEJOR COMBINACIÓN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1664208"/>
            <a:ext cx="237744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 i="0">
                <a:solidFill>
                  <a:srgbClr val="C0392B"/>
                </a:solidFill>
                <a:latin typeface="Calibri"/>
              </a:rPr>
              <a:t>26,2 %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74320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Lectura del estudio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" y="3291840"/>
            <a:ext cx="128016" cy="12801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00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262B33"/>
                </a:solidFill>
                <a:latin typeface="Calibri"/>
              </a:rPr>
              <a:t>Valor en letras: Mil setenta y un millones novecientos siete mil ochocientos pesos mlv.</a:t>
            </a:r>
          </a:p>
        </p:txBody>
      </p:sp>
      <p:sp>
        <p:nvSpPr>
          <p:cNvPr id="29" name="Oval 28"/>
          <p:cNvSpPr/>
          <p:nvPr/>
        </p:nvSpPr>
        <p:spPr>
          <a:xfrm>
            <a:off x="457200" y="3858768"/>
            <a:ext cx="128016" cy="12801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3767328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262B33"/>
                </a:solidFill>
                <a:latin typeface="Calibri"/>
              </a:rPr>
              <a:t>CV de la muestra general: 96,9 % frente al máximo admisible de 10 %.</a:t>
            </a:r>
          </a:p>
        </p:txBody>
      </p:sp>
      <p:sp>
        <p:nvSpPr>
          <p:cNvPr id="31" name="Oval 30"/>
          <p:cNvSpPr/>
          <p:nvPr/>
        </p:nvSpPr>
        <p:spPr>
          <a:xfrm>
            <a:off x="457200" y="4425696"/>
            <a:ext cx="128016" cy="12801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334256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262B33"/>
                </a:solidFill>
                <a:latin typeface="Calibri"/>
              </a:rPr>
              <a:t>Combinación seleccionada: Combinación 3 — ofertas 5, 3, 4 (3 ofertas) → $ 525,0 M /ha · $ 52.500 /m².</a:t>
            </a:r>
          </a:p>
        </p:txBody>
      </p:sp>
      <p:sp>
        <p:nvSpPr>
          <p:cNvPr id="33" name="Oval 32"/>
          <p:cNvSpPr/>
          <p:nvPr/>
        </p:nvSpPr>
        <p:spPr>
          <a:xfrm>
            <a:off x="457200" y="4992623"/>
            <a:ext cx="128016" cy="12801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901183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262B33"/>
                </a:solidFill>
                <a:latin typeface="Calibri"/>
              </a:rPr>
              <a:t>Rango de orientación: $ 525,0 M – $ 630,0 M por ha (0 de 3 combinaciones cumplen).</a:t>
            </a:r>
          </a:p>
        </p:txBody>
      </p:sp>
      <p:sp>
        <p:nvSpPr>
          <p:cNvPr id="35" name="Oval 34"/>
          <p:cNvSpPr/>
          <p:nvPr/>
        </p:nvSpPr>
        <p:spPr>
          <a:xfrm>
            <a:off x="457200" y="5559552"/>
            <a:ext cx="128016" cy="12801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262B33"/>
                </a:solidFill>
                <a:latin typeface="Calibri"/>
              </a:rPr>
              <a:t>Estado Res. 941: NO CUMPLE. Se requieren más ofertas del mismo segmento.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989320"/>
            <a:ext cx="11292840" cy="38404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989320"/>
            <a:ext cx="111556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Valores orientativos: no sustentan un valor adoptado hasta cumplir CV ≤ 10 %.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Predio objeto y alcance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D9D9D9"/>
                </a:solidFill>
                <a:latin typeface="Calibri"/>
              </a:rPr>
              <a:t>Identificación del inmueble y marco metodológico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400" b="1" i="0">
                <a:solidFill>
                  <a:srgbClr val="D9D9D9"/>
                </a:solidFill>
                <a:latin typeface="Calibri"/>
              </a:rPr>
              <a:t>03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  <a:latin typeface="Calibri"/>
              </a:rPr>
              <a:t>Andrés Felipe Cuartas Montoya · RAA 1.128.391.782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6519672"/>
            <a:ext cx="3749039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· Gestión valuatoria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2286000" cy="56692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280160"/>
            <a:ext cx="219456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Dirección / ubicación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280160"/>
            <a:ext cx="4023360" cy="56692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1280160"/>
            <a:ext cx="3886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Predio rural, sector Puente Bomba – El Ebanal (corr. Tigreras). Coord. 11.251133, -73.127307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20239"/>
            <a:ext cx="2286000" cy="56692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20239"/>
            <a:ext cx="219456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Departamento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920239"/>
            <a:ext cx="4023360" cy="56692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1920239"/>
            <a:ext cx="3886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LA GUAJIRA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560320"/>
            <a:ext cx="2286000" cy="56692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560320"/>
            <a:ext cx="219456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Municipio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2560320"/>
            <a:ext cx="4023360" cy="56692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2560320"/>
            <a:ext cx="3886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RIOHACHA (confirmar con número predial)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00399"/>
            <a:ext cx="2286000" cy="56692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200399"/>
            <a:ext cx="219456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Solicitante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3200399"/>
            <a:ext cx="4023360" cy="56692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3200399"/>
            <a:ext cx="3886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(Por definir)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840479"/>
            <a:ext cx="2286000" cy="56692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840479"/>
            <a:ext cx="219456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Fecha del estudio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3840479"/>
            <a:ext cx="4023360" cy="56692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4640" y="3840479"/>
            <a:ext cx="3886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01/10/2026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480560"/>
            <a:ext cx="2286000" cy="56692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480560"/>
            <a:ext cx="219456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Referencia de liquidación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4480560"/>
            <a:ext cx="4023360" cy="56692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34640" y="4480560"/>
            <a:ext cx="3886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Referencia de liquidación: MI 080-8167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120640"/>
            <a:ext cx="2286000" cy="56692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120640"/>
            <a:ext cx="219456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Superficie del terreno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5120640"/>
            <a:ext cx="4023360" cy="56692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34640" y="5120640"/>
            <a:ext cx="3886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2,00 ha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32320" y="1280160"/>
            <a:ext cx="4617720" cy="438912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0" y="1371600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Método y criterios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1828800"/>
            <a:ext cx="4297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2F5597"/>
                </a:solidFill>
                <a:latin typeface="Calibri"/>
              </a:rPr>
              <a:t>Método de mercado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2075688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Comparación de ofertas depuradas por % de negociación.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2450592"/>
            <a:ext cx="4297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2F5597"/>
                </a:solidFill>
                <a:latin typeface="Calibri"/>
              </a:rPr>
              <a:t>Estadística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2697480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Promedio, desviación, CV, límites y asimetría de la muestra.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72384"/>
            <a:ext cx="4297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2F5597"/>
                </a:solidFill>
                <a:latin typeface="Calibri"/>
              </a:rPr>
              <a:t>Res. 941 · rural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3319272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CV máximo admisible 10 %; sin homogenización por factores.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3694176"/>
            <a:ext cx="4297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2F5597"/>
                </a:solidFill>
                <a:latin typeface="Calibri"/>
              </a:rPr>
              <a:t>Combinaciones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0" y="3941064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Grupos de 3 o más ofertas por menor CV.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4315968"/>
            <a:ext cx="4297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2F5597"/>
                </a:solidFill>
                <a:latin typeface="Calibri"/>
              </a:rPr>
              <a:t>Construcciones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4562856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Depreciación Ross-Heidecke.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4937760"/>
            <a:ext cx="4297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2F5597"/>
                </a:solidFill>
                <a:latin typeface="Calibri"/>
              </a:rPr>
              <a:t>Liquidación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0" y="5184648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Terreno + construcciones, redondeo a la centena.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Ofertas de mercado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D9D9D9"/>
                </a:solidFill>
                <a:latin typeface="Calibri"/>
              </a:rPr>
              <a:t>Datos tomados de la hoja MERCADO RURAL (valores depurados por % de negociación)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400" b="1" i="0">
                <a:solidFill>
                  <a:srgbClr val="D9D9D9"/>
                </a:solidFill>
                <a:latin typeface="Calibri"/>
              </a:rPr>
              <a:t>04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  <a:latin typeface="Calibri"/>
              </a:rPr>
              <a:t>Andrés Felipe Cuartas Montoya · RAA 1.128.391.782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6519672"/>
            <a:ext cx="3749039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· Gestión valuatoria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11475717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415"/>
                <a:gridCol w="4119489"/>
                <a:gridCol w="882747"/>
                <a:gridCol w="1176996"/>
                <a:gridCol w="686581"/>
                <a:gridCol w="1275080"/>
                <a:gridCol w="1275080"/>
                <a:gridCol w="1569329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Ubicación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Área ha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Valor pedido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 neg.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Valor depurado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Valor $/ha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Comparabilidad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Dibulla, sobre Troncal del Caribe, cerca a Cién…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301,00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$ 7.826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$ 7.043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$ 23,40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Camarones II, sector Cachaca 1, Riohacha – fren…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0,54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$ 750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$ 675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$ 1.250,00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La Guija, a 5 km de El Retiro, Riohacha (vía de…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6,00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$ 3.300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$ 2.970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$ 495,00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Riohacha, frente al mar (~40 m de playa)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$ 750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$ 675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$ 675,00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Chingale / Mingueo, Dibulla – 250 m de frente 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15,00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$ 6.750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$ 6.075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$ 405,00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Palomino, Dibulla – 25 m de frente de playa × 4…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$ 800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$ 720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$ 720,00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Estribaciones Sierra Nevada, Riohacha – 10 min…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50,00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$ 1.500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$ 1.350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$ 27,00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Riohacha – "lotes para proyectos turísticos", m…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1.000,00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$ 1.750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$ 1.575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$ 1,57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6035040"/>
            <a:ext cx="114300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M = millones de pesos. ALTA = comparable en uso agropecuario; DESCARTADA = turístico, playa, campestre o dato no confiable.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Valor por hectárea y estadísticos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D9D9D9"/>
                </a:solidFill>
                <a:latin typeface="Calibri"/>
              </a:rPr>
              <a:t>Dispersión de la muestra general ($ millones por ha, escala logarítmica)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400" b="1" i="0">
                <a:solidFill>
                  <a:srgbClr val="D9D9D9"/>
                </a:solidFill>
                <a:latin typeface="Calibri"/>
              </a:rPr>
              <a:t>05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  <a:latin typeface="Calibri"/>
              </a:rPr>
              <a:t>Andrés Felipe Cuartas Montoya · RAA 1.128.391.782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6519672"/>
            <a:ext cx="3749039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· Gestión valuatoria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65760" y="1188720"/>
          <a:ext cx="722376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7863840" y="1234440"/>
            <a:ext cx="3931920" cy="5852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234440"/>
            <a:ext cx="210312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Promedio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1234440"/>
            <a:ext cx="205740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1" i="0">
                <a:solidFill>
                  <a:srgbClr val="1F3864"/>
                </a:solidFill>
                <a:latin typeface="Calibri"/>
              </a:rPr>
              <a:t>$ 449,6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1892808"/>
            <a:ext cx="3931920" cy="5852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1892808"/>
            <a:ext cx="210312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Desviación estándar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1892808"/>
            <a:ext cx="205740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1" i="0">
                <a:solidFill>
                  <a:srgbClr val="1F3864"/>
                </a:solidFill>
                <a:latin typeface="Calibri"/>
              </a:rPr>
              <a:t>$ 435,8 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2551176"/>
            <a:ext cx="3931920" cy="5852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2551176"/>
            <a:ext cx="210312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Coeficiente de variación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551176"/>
            <a:ext cx="205740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1" i="0">
                <a:solidFill>
                  <a:srgbClr val="C0392B"/>
                </a:solidFill>
                <a:latin typeface="Calibri"/>
              </a:rPr>
              <a:t>96,9 %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3840" y="3209544"/>
            <a:ext cx="3931920" cy="5852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79" y="3209544"/>
            <a:ext cx="210312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Límite inferior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3209544"/>
            <a:ext cx="205740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1" i="0">
                <a:solidFill>
                  <a:srgbClr val="1F3864"/>
                </a:solidFill>
                <a:latin typeface="Calibri"/>
              </a:rPr>
              <a:t>$ 13,8 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0" y="3867912"/>
            <a:ext cx="3931920" cy="5852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79" y="3867912"/>
            <a:ext cx="210312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Límite superior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3867912"/>
            <a:ext cx="205740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1" i="0">
                <a:solidFill>
                  <a:srgbClr val="1F3864"/>
                </a:solidFill>
                <a:latin typeface="Calibri"/>
              </a:rPr>
              <a:t>$ 885,4 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0" y="4526279"/>
            <a:ext cx="3931920" cy="5852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4526279"/>
            <a:ext cx="210312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Coeficiente de asimetría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4526279"/>
            <a:ext cx="205740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1" i="0">
                <a:solidFill>
                  <a:srgbClr val="1F3864"/>
                </a:solidFill>
                <a:latin typeface="Calibri"/>
              </a:rPr>
              <a:t>0,69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3840" y="5184648"/>
            <a:ext cx="3931920" cy="585216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79" y="5184648"/>
            <a:ext cx="210312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Valor adoptado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5184648"/>
            <a:ext cx="205740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1" i="0">
                <a:solidFill>
                  <a:srgbClr val="1F3864"/>
                </a:solidFill>
                <a:latin typeface="Calibri"/>
              </a:rPr>
              <a:t>$ 449,6 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Combinaciones de ofertas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D9D9D9"/>
                </a:solidFill>
                <a:latin typeface="Calibri"/>
              </a:rPr>
              <a:t>Grupos de 3 o más ofertas · CV máximo admisible 10 % (Res. 941)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400" b="1" i="0">
                <a:solidFill>
                  <a:srgbClr val="D9D9D9"/>
                </a:solidFill>
                <a:latin typeface="Calibri"/>
              </a:rPr>
              <a:t>06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  <a:latin typeface="Calibri"/>
              </a:rPr>
              <a:t>Andrés Felipe Cuartas Montoya · RAA 1.128.391.782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6519672"/>
            <a:ext cx="3749039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· Gestión valuatoria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65760" y="1188720"/>
          <a:ext cx="512064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0" y="1188720"/>
          <a:ext cx="617219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9602"/>
                <a:gridCol w="827978"/>
                <a:gridCol w="1053790"/>
                <a:gridCol w="827978"/>
                <a:gridCol w="602165"/>
                <a:gridCol w="752707"/>
                <a:gridCol w="827978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Combinación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Promedio $/ha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Desv. est.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CV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Cumple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$/m²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Combinación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3, 4, 6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$ 630,0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$ 119,1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18,9 %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$ 63.000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Combinación 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5, 3, 4, 6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$ 573,8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$ 148,7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25,9 %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$ 57.375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Combinación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5, 3, 4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$ 525,0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$ 137,5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26,2 %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$ 52.500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669280" y="3291840"/>
            <a:ext cx="612648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262B33"/>
                </a:solidFill>
                <a:latin typeface="Calibri"/>
              </a:rPr>
              <a:t>Ofertas elegibles: 6 de 8 · filtro por límites: SÍ.</a:t>
            </a:r>
          </a:p>
          <a:p>
            <a:pPr algn="l"/>
            <a:r>
              <a:rPr sz="1200" b="0" i="0">
                <a:solidFill>
                  <a:srgbClr val="262B33"/>
                </a:solidFill>
                <a:latin typeface="Calibri"/>
              </a:rPr>
              <a:t>Se priorizan las combinaciones que cumplen el CV máximo y, si ninguna cumple, las de menor CV.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937760"/>
            <a:ext cx="11475720" cy="13716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98348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6B7280"/>
                </a:solidFill>
                <a:latin typeface="Calibri"/>
              </a:rPr>
              <a:t>COMBINACIÓN SELECCIONADA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0352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Combinación 3 · ofertas 5, 3, 4 (3 ofertas)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029200"/>
            <a:ext cx="1737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CV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5349240"/>
            <a:ext cx="1737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Calibri"/>
              </a:rPr>
              <a:t>26,2 %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29200"/>
            <a:ext cx="1737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¿Cumple?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1737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029200"/>
            <a:ext cx="1737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Valor por 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5349240"/>
            <a:ext cx="1737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Calibri"/>
              </a:rPr>
              <a:t>$ 525,0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5029200"/>
            <a:ext cx="1737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Valor por m²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5349240"/>
            <a:ext cx="1737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Calibri"/>
              </a:rPr>
              <a:t>$ 52.500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Proyección del valor esperado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D9D9D9"/>
                </a:solidFill>
                <a:latin typeface="Calibri"/>
              </a:rPr>
              <a:t>Rango de orientación entre dos combinaciones de referencia · sin valor puntual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400" b="1" i="0">
                <a:solidFill>
                  <a:srgbClr val="D9D9D9"/>
                </a:solidFill>
                <a:latin typeface="Calibri"/>
              </a:rPr>
              <a:t>07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  <a:latin typeface="Calibri"/>
              </a:rPr>
              <a:t>Andrés Felipe Cuartas Montoya · RAA 1.128.391.782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6519672"/>
            <a:ext cx="3749039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· Gestión valuatoria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3566160" cy="118872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80160"/>
            <a:ext cx="73152" cy="11887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353312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REFERENCIA BAJA · $/ha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664208"/>
            <a:ext cx="32918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 i="0">
                <a:solidFill>
                  <a:srgbClr val="1F3864"/>
                </a:solidFill>
                <a:latin typeface="Calibri"/>
              </a:rPr>
              <a:t>$ 525,0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487168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Combinación 3 · ofertas 5, 3, 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1280160"/>
            <a:ext cx="3566160" cy="118872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1280160"/>
            <a:ext cx="73152" cy="11887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353312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REFERENCIA ALTA · $/ha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664208"/>
            <a:ext cx="32918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 i="0">
                <a:solidFill>
                  <a:srgbClr val="1F3864"/>
                </a:solidFill>
                <a:latin typeface="Calibri"/>
              </a:rPr>
              <a:t>$ 630,0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2487168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Combinación 1 · ofertas 3, 4, 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1280160"/>
            <a:ext cx="3611880" cy="11887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60" y="1280160"/>
            <a:ext cx="73152" cy="11887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353312"/>
            <a:ext cx="3337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AMPLITUD DEL RANGO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1664208"/>
            <a:ext cx="33375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 i="0">
                <a:solidFill>
                  <a:srgbClr val="1F3864"/>
                </a:solidFill>
                <a:latin typeface="Calibri"/>
              </a:rPr>
              <a:t>$ 105,0 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09141" y="3977639"/>
            <a:ext cx="2786100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4741" y="4526279"/>
            <a:ext cx="1828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Baja 525,0 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0841" y="4526279"/>
            <a:ext cx="1828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Alta 630,0 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89038" y="3703319"/>
            <a:ext cx="40000" cy="100584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20318" y="3383279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37863C"/>
                </a:solidFill>
                <a:latin typeface="Calibri"/>
              </a:rPr>
              <a:t>Valor adoptado 449,6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292608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Posición del valor adoptado frente al rango de orientación ($ millones/ha)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822960" y="5074920"/>
          <a:ext cx="105156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485900"/>
                <a:gridCol w="1828800"/>
                <a:gridCol w="1371600"/>
                <a:gridCol w="1028700"/>
                <a:gridCol w="11430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Referencia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Combinación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Promedio $/ha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$/m²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CV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¿Cumple?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REFERENCIA BAJA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Combinación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5, 3, 4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$ 525,0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$ 52.500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26,2 %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REFERENCIA ALTA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Combinación 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3, 4, 6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$ 630,0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$ 63.000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18,9 %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Ninguna combinación de 3 o más ofertas alcanza CV ≤ 10% (mejor CV: 18,9%). Los valores son solo ORIENTATIVOS y no sustentan un valor adoptado; se requieren más ofertas del mismo segmento, dentro de la banda admisible de la combinación elegida.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Depreciación de construcciones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D9D9D9"/>
                </a:solidFill>
                <a:latin typeface="Calibri"/>
              </a:rPr>
              <a:t>Método Ross-Heidecke · valor actual por estado de conservación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400" b="1" i="0">
                <a:solidFill>
                  <a:srgbClr val="D9D9D9"/>
                </a:solidFill>
                <a:latin typeface="Calibri"/>
              </a:rPr>
              <a:t>08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  <a:latin typeface="Calibri"/>
              </a:rPr>
              <a:t>Andrés Felipe Cuartas Montoya · RAA 1.128.391.782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6519672"/>
            <a:ext cx="3749039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· Gestión valuatoria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1147571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5636"/>
                <a:gridCol w="736972"/>
                <a:gridCol w="947536"/>
                <a:gridCol w="842254"/>
                <a:gridCol w="1579227"/>
                <a:gridCol w="842254"/>
                <a:gridCol w="1789791"/>
                <a:gridCol w="947536"/>
                <a:gridCol w="1684509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Ítem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Edad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Vida útil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Reposición $/m²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FD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Valor adoptado $/m²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Área m²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Valor total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Casa Principal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$ 1.131.400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0,638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$ 722.000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$ 70.034.000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Casa Mayordomo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3.5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$ 1.131.400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0,464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$ 524.000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$ 36.680.000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Casa pequeña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$ 1.131.400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0,506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$ 573.000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$ 30.369.000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Bodega principal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$ 1.286.778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0,329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$ 423.000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$ 14.805.000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Bodega auxiliar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$ 1.286.778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0,246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$ 317.000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$ 8.876.000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Cuarto útil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$ 1.231.701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0,568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$ 700.000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$ 11.900.000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>$ 172.664.000</a:t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365760" y="4251960"/>
          <a:ext cx="114757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Liquidación del avalúo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D9D9D9"/>
                </a:solidFill>
                <a:latin typeface="Calibri"/>
              </a:rPr>
              <a:t>Terreno + construcciones · totales redondeados a la centena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400" b="1" i="0">
                <a:solidFill>
                  <a:srgbClr val="D9D9D9"/>
                </a:solidFill>
                <a:latin typeface="Calibri"/>
              </a:rPr>
              <a:t>09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  <a:latin typeface="Calibri"/>
              </a:rPr>
              <a:t>Andrés Felipe Cuartas Montoya · RAA 1.128.391.782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6519672"/>
            <a:ext cx="3749039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· Gestión valuatoria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7498076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4356"/>
                <a:gridCol w="697495"/>
                <a:gridCol w="871869"/>
                <a:gridCol w="1394991"/>
                <a:gridCol w="1569365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Concepto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Unidad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Cantidad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Valor unitario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Valor total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TERRENO – Predio rural, sector Puente Bomba – El…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Ha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2,00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$ 449.621.900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$ 899.243.800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Casa Principal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$ 722.000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$ 70.034.000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Casa Mayordomo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$ 524.000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$ 36.680.000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Casa Pequeña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$ 573.000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$ 30.369.000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Bodega Principal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$ 423.000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$ 14.805.000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Bodega Auxiliar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$ 317.000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$ 8.876.000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Cuarto Útil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$ 700.000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$ 11.900.000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>VALOR TOTAL DEL AVALÚO</a:t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>$ 1.071.907.800</a:t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046720" y="1188720"/>
          <a:ext cx="384048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8046720" y="4434840"/>
            <a:ext cx="3794760" cy="914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4434840"/>
            <a:ext cx="73152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507992"/>
            <a:ext cx="35204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VALOR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818888"/>
            <a:ext cx="352044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Calibri"/>
              </a:rPr>
              <a:t>$ 1.071.907.800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532120"/>
            <a:ext cx="11475720" cy="8229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5559552"/>
            <a:ext cx="1124712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Valor en letras</a:t>
            </a:r>
          </a:p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MIL SETENTA Y UN MILLONES NOVECIENTOS SIETE MIL OCHOCIENTOS PESOS MLV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Observaciones y 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D9D9D9"/>
                </a:solidFill>
                <a:latin typeface="Calibri"/>
              </a:rPr>
              <a:t>Salvedades del estudio y responsable técnico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400" b="1" i="0">
                <a:solidFill>
                  <a:srgbClr val="D9D9D9"/>
                </a:solidFill>
                <a:latin typeface="Calibri"/>
              </a:rPr>
              <a:t>10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  <a:latin typeface="Calibri"/>
              </a:rPr>
              <a:t>Andrés Felipe Cuartas Montoya · RAA 1.128.391.782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6519672"/>
            <a:ext cx="3749039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· Gestión valuatoria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1307592"/>
            <a:ext cx="109728" cy="109728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234440"/>
            <a:ext cx="740664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262B33"/>
                </a:solidFill>
                <a:latin typeface="Calibri"/>
              </a:rPr>
              <a:t>Búsqueda realizada el 01/10/2026 en Fincaraíz, Punto Propiedad y FazWaz. Mercado Libre exigió inicio de sesión y Mitula/Trovit bloquearon el acceso, por lo que no fueron revisados.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1965960"/>
            <a:ext cx="109728" cy="109728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92808"/>
            <a:ext cx="7406640" cy="9692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262B33"/>
                </a:solidFill>
                <a:latin typeface="Calibri"/>
              </a:rPr>
              <a:t>Solo se encontró UNA oferta vigente con uso agropecuario en el corredor (finca de 301 ha en Dibulla, ~$26 M/ha pedido). La oferta pública en línea de la zona está dominada por lotes turísticos de playa y lotes comerciales sobre la Troncal, que no son comparables con un predio agropecuario interior situado a 1,5–2 km de la vía.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026664"/>
            <a:ext cx="109728" cy="109728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53512"/>
            <a:ext cx="74066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262B33"/>
                </a:solidFill>
                <a:latin typeface="Calibri"/>
              </a:rPr>
              <a:t>La tabla de mercado incluye, además de la oferta agropecuaria vigente (No. 1), las 7 ofertas descartadas (No. 2 a 8), vinculadas por fórmula a la sección inferior. Como son lotes turísticos, de playa o campestres, el promedio, la desviación estándar y el coeficiente de variación no son representativos del suelo agropecuario interior; el valor adoptado no se calcula con ellos y debe soportarse con ofertas de campo (avisos en sitio, comisionistas locales, juntas de acción comunal de Tigreras, Puente Bomba, El Ebanal…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489704"/>
            <a:ext cx="109728" cy="109728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416552"/>
            <a:ext cx="740664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262B33"/>
                </a:solidFill>
                <a:latin typeface="Calibri"/>
              </a:rPr>
              <a:t>El % de negociación (col. D) queda en 10 % porque no se obtuvo valor depurado; debe ajustarse con la negociación que confirme la fuente.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5148072"/>
            <a:ext cx="109728" cy="109728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074920"/>
            <a:ext cx="740664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262B33"/>
                </a:solidFill>
                <a:latin typeface="Calibri"/>
              </a:rPr>
              <a:t>La oferta de 301 ha tiene frente sobre la Troncal y un tamaño muy superior; dado que la Res. 941/2026 prohíbe la homogenización por factores, su uso debe sustentarse por similitud y no mediante ajustes.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0" y="1234440"/>
            <a:ext cx="3383280" cy="5029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4297680"/>
            <a:ext cx="2834640" cy="2743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146304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BFBFBF"/>
                </a:solidFill>
                <a:latin typeface="Calibri"/>
              </a:rPr>
              <a:t>Avaluador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1828800"/>
            <a:ext cx="301752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Andrés Felipe Cuartas Montoya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301752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 i="0">
                <a:solidFill>
                  <a:srgbClr val="E2EFDA"/>
                </a:solidFill>
                <a:latin typeface="Calibri"/>
              </a:rPr>
              <a:t>RAA 1.128.391.782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38912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0">
                <a:solidFill>
                  <a:srgbClr val="BFBFBF"/>
                </a:solidFill>
                <a:latin typeface="Calibri"/>
              </a:rPr>
              <a:t>Firma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394960"/>
            <a:ext cx="30175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Fecha del estudio</a:t>
            </a:r>
          </a:p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01/10/2026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