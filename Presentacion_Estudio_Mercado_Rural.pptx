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 $/ha (millones)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BFBFBF"/>
              </a:solidFill>
            </c:spPr>
          </c:dPt>
          <c:dPt>
            <c:idx val="4"/>
            <c:spPr>
              <a:solidFill>
                <a:srgbClr val="BFBFBF"/>
              </a:solidFill>
            </c:spPr>
          </c:dPt>
          <c:dPt>
            <c:idx val="5"/>
            <c:spPr>
              <a:solidFill>
                <a:srgbClr val="BFBFBF"/>
              </a:solidFill>
            </c:spPr>
          </c:dPt>
          <c:dPt>
            <c:idx val="6"/>
            <c:spPr>
              <a:solidFill>
                <a:srgbClr val="BFBFBF"/>
              </a:solidFill>
            </c:spPr>
          </c:dPt>
          <c:dPt>
            <c:idx val="7"/>
            <c:spPr>
              <a:solidFill>
                <a:srgbClr val="BFBFBF"/>
              </a:solidFill>
            </c:spPr>
          </c:dPt>
          <c:dLbls>
            <c:numFmt formatCode="#,##0.0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Of. 1</c:v>
                </c:pt>
                <c:pt idx="1">
                  <c:v>Of. 2</c:v>
                </c:pt>
                <c:pt idx="2">
                  <c:v>Of. 3</c:v>
                </c:pt>
                <c:pt idx="3">
                  <c:v>Of. 4</c:v>
                </c:pt>
                <c:pt idx="4">
                  <c:v>Of. 5</c:v>
                </c:pt>
                <c:pt idx="5">
                  <c:v>Of. 6</c:v>
                </c:pt>
                <c:pt idx="6">
                  <c:v>Of. 7</c:v>
                </c:pt>
                <c:pt idx="7">
                  <c:v>Of.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23.4</c:v>
                </c:pt>
                <c:pt idx="1">
                  <c:v>1250.0</c:v>
                </c:pt>
                <c:pt idx="2">
                  <c:v>495.0</c:v>
                </c:pt>
                <c:pt idx="3">
                  <c:v>675.0</c:v>
                </c:pt>
                <c:pt idx="4">
                  <c:v>405.0</c:v>
                </c:pt>
                <c:pt idx="5">
                  <c:v>720.0</c:v>
                </c:pt>
                <c:pt idx="6">
                  <c:v>27.0</c:v>
                </c:pt>
                <c:pt idx="7">
                  <c:v>1.575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in val="1.0"/>
        </c:scaling>
        <c:delete val="0"/>
        <c:axPos val="l"/>
        <c:majorGridlines>
          <c:spPr>
            <a:ln>
              <a:solidFill>
                <a:srgbClr val="E1E6E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3A445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2F5597"/>
              </a:solidFill>
            </c:spPr>
          </c:dPt>
          <c:dPt>
            <c:idx val="2"/>
            <c:spPr>
              <a:solidFill>
                <a:srgbClr val="8FAADC"/>
              </a:solidFill>
            </c:spPr>
          </c:dPt>
          <c:cat>
            <c:strRef>
              <c:f>Sheet1!$A$2:$A$4</c:f>
              <c:strCache>
                <c:ptCount val="3"/>
                <c:pt idx="0">
                  <c:v>Terreno</c:v>
                </c:pt>
                <c:pt idx="1">
                  <c:v>Constr. principal</c:v>
                </c:pt>
                <c:pt idx="2">
                  <c:v>Constr. anexas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899.2438</c:v>
                </c:pt>
                <c:pt idx="1">
                  <c:v>70.034</c:v>
                </c:pt>
                <c:pt idx="2">
                  <c:v>102.63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100">
          <a:solidFill>
            <a:srgbClr val="3A4457"/>
          </a:solidFill>
          <a:latin typeface="Calibri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7680960" y="-1645920"/>
            <a:ext cx="6583680" cy="6583680"/>
          </a:xfrm>
          <a:prstGeom prst="ellipse">
            <a:avLst/>
          </a:prstGeom>
          <a:solidFill>
            <a:srgbClr val="2F559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3566160"/>
            <a:ext cx="3291840" cy="3291840"/>
          </a:xfrm>
          <a:prstGeom prst="ellipse">
            <a:avLst/>
          </a:prstGeom>
          <a:solidFill>
            <a:srgbClr val="92D05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822960" cy="64008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 spc="300">
                <a:solidFill>
                  <a:srgbClr val="92D050"/>
                </a:solidFill>
                <a:latin typeface="Calibri"/>
              </a:rPr>
              <a:t>GESTIÓN VALUATORIA  ·  RES. 941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9601200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Estudio de mercado</a:t>
            </a:r>
          </a:p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predios rurales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86868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0" i="0">
                <a:solidFill>
                  <a:srgbClr val="D9D9D9"/>
                </a:solidFill>
                <a:latin typeface="Calibri"/>
              </a:rPr>
              <a:t>Predio rural, sector Puente Bomba – El Ebanal (corr. Tigreras)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43400"/>
            <a:ext cx="3566160" cy="384048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RIOHACHA  ·  LA GUAJIRA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66360"/>
            <a:ext cx="10698480" cy="1234440"/>
          </a:xfrm>
          <a:prstGeom prst="roundRect">
            <a:avLst>
              <a:gd name="adj" fmla="val 12000"/>
            </a:avLst>
          </a:prstGeom>
          <a:solidFill>
            <a:srgbClr val="FFFFFF">
              <a:alpha val="9000"/>
            </a:srgbClr>
          </a:solidFill>
          <a:ln w="9525">
            <a:solidFill>
              <a:srgbClr val="8FA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285232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AVALUADOR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532120"/>
            <a:ext cx="5943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Calibri"/>
              </a:rPr>
              <a:t>Andrés Felipe Cuartas Montoya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961888"/>
            <a:ext cx="54864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 i="0">
                <a:solidFill>
                  <a:srgbClr val="D9D9D9"/>
                </a:solidFill>
                <a:latin typeface="Calibri"/>
              </a:rPr>
              <a:t>RAA 1.128.391.782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5349240"/>
            <a:ext cx="12000" cy="868680"/>
          </a:xfrm>
          <a:prstGeom prst="rect">
            <a:avLst/>
          </a:prstGeom>
          <a:solidFill>
            <a:srgbClr val="8FA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52852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FECHA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5532120"/>
            <a:ext cx="21945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01/10/2026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52852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SOLICITANTE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5596128"/>
            <a:ext cx="1920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(Por definir)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RESUMEN EJECUTIVO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El avalúo en una mirada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Resultado del estudio y estado frente a la Resolución 941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2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4206240" cy="46177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18000000"/>
          </a:gradFill>
          <a:ln>
            <a:noFill/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73736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50">
                <a:solidFill>
                  <a:srgbClr val="92D050"/>
                </a:solidFill>
                <a:latin typeface="Calibri"/>
              </a:rPr>
              <a:t>VALOR TOTAL DEL AVALÚO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48840"/>
            <a:ext cx="3657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$ 1.071,9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063240"/>
            <a:ext cx="3657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0" i="0">
                <a:solidFill>
                  <a:srgbClr val="D9D9D9"/>
                </a:solidFill>
                <a:latin typeface="Calibri"/>
              </a:rPr>
              <a:t>$ 1.071.907.800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3611880"/>
            <a:ext cx="640080" cy="250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94760"/>
            <a:ext cx="35661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1">
                <a:solidFill>
                  <a:srgbClr val="D9D9D9"/>
                </a:solidFill>
                <a:latin typeface="Calibri"/>
              </a:rPr>
              <a:t>Mil setenta y un millones novecientos siete mil ochocientos pesos mlv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534924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Terreno 2,00 ha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534924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 construcciones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1463040"/>
            <a:ext cx="324612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93792" y="146304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30368" y="1691640"/>
            <a:ext cx="502920" cy="5029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1645920"/>
            <a:ext cx="23317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VALOR ADOPTADO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1883664"/>
            <a:ext cx="2331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$ 449,6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245059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por hectárea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58200" y="1463040"/>
            <a:ext cx="324612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22792" y="146304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59368" y="1691640"/>
            <a:ext cx="502920" cy="5029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1645920"/>
            <a:ext cx="23317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OFERTAS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1883664"/>
            <a:ext cx="2331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8 · 1 vigente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245059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7 descartadas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0" y="3017520"/>
            <a:ext cx="324612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193792" y="301752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230368" y="3246120"/>
            <a:ext cx="502920" cy="5029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0" y="3200400"/>
            <a:ext cx="23317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COMBINACIÓN ELEGIDA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3438144"/>
            <a:ext cx="2331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$ 525,0 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400507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Combinación 3 · $ 52.500/m²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58200" y="3017520"/>
            <a:ext cx="324612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22792" y="301752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659368" y="3246120"/>
            <a:ext cx="502920" cy="5029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3200400"/>
            <a:ext cx="23317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RANGO ORIENTATIVO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3438144"/>
            <a:ext cx="23317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525 – 630 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400507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amplitud $ 105 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0" y="4572000"/>
            <a:ext cx="6675120" cy="1508760"/>
          </a:xfrm>
          <a:prstGeom prst="roundRect">
            <a:avLst>
              <a:gd name="adj" fmla="val 5000"/>
            </a:avLst>
          </a:prstGeom>
          <a:solidFill>
            <a:srgbClr val="FFF2CC"/>
          </a:solidFill>
          <a:ln>
            <a:noFill/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4617720"/>
            <a:ext cx="2468880" cy="1371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680960" y="4681728"/>
            <a:ext cx="3931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COEFICIENTE DE VARIACIÓN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4919472"/>
            <a:ext cx="39319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C0392B"/>
                </a:solidFill>
                <a:latin typeface="Calibri"/>
              </a:rPr>
              <a:t>26,2 %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468112"/>
            <a:ext cx="393192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No cumple el máximo de 10 %: valores orientativos; se requieren más ofertas.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PREDIO Y MÉTODO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Predio objeto y alcance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Identificación del inmueble y marco metodológico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3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5669280" cy="4617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691640"/>
            <a:ext cx="73152" cy="64008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1645920"/>
            <a:ext cx="5029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DIRECCIÓN / UBICACIÓN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1856232"/>
            <a:ext cx="5120640" cy="59435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Predio rural, sector Puente Bomba – El Ebanal (corr. Tigreras). Coord. 11.251133, -73.127307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542032"/>
            <a:ext cx="73152" cy="36576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496312"/>
            <a:ext cx="5029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DEPARTAMENTO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706624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LA GUAJIRA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118103"/>
            <a:ext cx="73152" cy="36576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072384"/>
            <a:ext cx="5029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MUNICIPIO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282696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RIOHACHA (confirmar con número predial)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94176"/>
            <a:ext cx="73152" cy="36576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648456"/>
            <a:ext cx="5029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SOLICITANTE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858768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(Por definir)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70248"/>
            <a:ext cx="73152" cy="36576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224528"/>
            <a:ext cx="5029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20">
                <a:solidFill>
                  <a:srgbClr val="6B7280"/>
                </a:solidFill>
                <a:latin typeface="Calibri"/>
              </a:rPr>
              <a:t>REFERENCIA DE LIQUIDACIÓN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434840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MI 080-8167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120640"/>
            <a:ext cx="2377440" cy="82296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148072"/>
            <a:ext cx="219456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50">
                <a:solidFill>
                  <a:srgbClr val="92D050"/>
                </a:solidFill>
                <a:latin typeface="Calibri"/>
              </a:rPr>
              <a:t>SUPERFICIE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21945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2,00 ha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91840" y="5120640"/>
            <a:ext cx="2697480" cy="822960"/>
          </a:xfrm>
          <a:prstGeom prst="roundRect">
            <a:avLst>
              <a:gd name="adj" fmla="val 15000"/>
            </a:avLst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29000" y="5148072"/>
            <a:ext cx="24688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50">
                <a:solidFill>
                  <a:srgbClr val="6B7280"/>
                </a:solidFill>
                <a:latin typeface="Calibri"/>
              </a:rPr>
              <a:t>FECHA DEL ESTUDIO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5349240"/>
            <a:ext cx="24688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1F3864"/>
                </a:solidFill>
                <a:latin typeface="Calibri"/>
              </a:rPr>
              <a:t>01/10/2026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46520" y="1463040"/>
            <a:ext cx="2560320" cy="14356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11112" y="1645920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1664208"/>
            <a:ext cx="1737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Método de mercado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11112" y="2240280"/>
            <a:ext cx="2286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Comparación de ofertas depuradas por % de negociación.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1463040"/>
            <a:ext cx="2560320" cy="14356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308592" y="1645920"/>
            <a:ext cx="457200" cy="45720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1664208"/>
            <a:ext cx="1737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Estadística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08592" y="2240280"/>
            <a:ext cx="2286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Promedio, desviación, CV, límites y asimetría.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46520" y="3035808"/>
            <a:ext cx="2560320" cy="14356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611112" y="3218688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78040" y="3236976"/>
            <a:ext cx="1737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Res. 941 · rural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3813048"/>
            <a:ext cx="2286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CV máximo 10 %; sin homogenización por factores.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0" y="3035808"/>
            <a:ext cx="2560320" cy="14356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08592" y="3218688"/>
            <a:ext cx="457200" cy="45720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3236976"/>
            <a:ext cx="1737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Combinaciones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08592" y="3813048"/>
            <a:ext cx="2286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Grupos de 3 o más ofertas con el menor CV.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46520" y="4608576"/>
            <a:ext cx="2560320" cy="14356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11112" y="4791456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4809744"/>
            <a:ext cx="1737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Construcciones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5385816"/>
            <a:ext cx="2286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Depreciación Ross-Heidecke por estado.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44000" y="4608576"/>
            <a:ext cx="2560320" cy="14356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08592" y="4791456"/>
            <a:ext cx="457200" cy="45720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0" y="4809744"/>
            <a:ext cx="1737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Liquidación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08592" y="5385816"/>
            <a:ext cx="22860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Terreno + construcciones, redondeo a la centena.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MERCADO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Ofertas de mercado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Hoja MERCADO RURAL · valores depurados por % de negociación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4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11109960" cy="4754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1554480"/>
          <a:ext cx="10835637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63061"/>
                <a:gridCol w="3982329"/>
                <a:gridCol w="833510"/>
                <a:gridCol w="1111347"/>
                <a:gridCol w="648286"/>
                <a:gridCol w="1203960"/>
                <a:gridCol w="1203960"/>
                <a:gridCol w="1389184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Ubicación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Área ha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Valor pedido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% neg.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Valor depurado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Valor $/ha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Comparabilidad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Dibulla, sobre Troncal del Caribe, cerca a Ciénaga…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301,00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$ 7.826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$ 7.043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37863C"/>
                          </a:solidFill>
                          <a:latin typeface="Calibri"/>
                        </a:rPr>
                        <a:t>$ 23,40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7863C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Camarones II, sector Cachaca 1, Riohacha – frente a…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0,54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$ 750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$ 675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$ 1.250,00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La Guija, a 5 km de El Retiro, Riohacha (vía destap…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6,00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$ 3.300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$ 2.970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$ 495,00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Riohacha, frente al mar (~40 m de playa)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$ 750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$ 675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$ 675,00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Chingale / Mingueo, Dibulla – 250 m de frente de pl…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15,00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$ 6.750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$ 6.075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$ 405,00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Palomino, Dibulla – 25 m de frente de playa × 400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$ 800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$ 720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$ 720,00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Estribaciones Sierra Nevada, Riohacha – 10 min del…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50,00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$ 1.500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$ 1.350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$ 27,00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Riohacha – "lotes para proyectos turísticos", mínim…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1.000,00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$ 1.750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$ 1.575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$ 1,57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M = millones de pesos. ALTA = comparable en uso agropecuario · DESCARTADA = turístico, playa, campestre o dato no confiable.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ESTADÍSTICA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Valor por hectárea y estadísticos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Muestra general · $ millones por ha (escala logarítmica)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5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7223760" cy="4754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40080" y="1508760"/>
          <a:ext cx="70408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ectangle 13"/>
          <p:cNvSpPr/>
          <p:nvPr/>
        </p:nvSpPr>
        <p:spPr>
          <a:xfrm>
            <a:off x="868680" y="5870448"/>
            <a:ext cx="164592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5815584"/>
            <a:ext cx="2286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A4457"/>
                </a:solidFill>
                <a:latin typeface="Calibri"/>
              </a:rPr>
              <a:t>Oferta vigente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5870448"/>
            <a:ext cx="164592" cy="16459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3512" y="5815584"/>
            <a:ext cx="2286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A4457"/>
                </a:solidFill>
                <a:latin typeface="Calibri"/>
              </a:rPr>
              <a:t>Oferta descartada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417320"/>
            <a:ext cx="1783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65592" y="141732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1527048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Promedio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1801368"/>
            <a:ext cx="16459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$ 449,6 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0" y="1417320"/>
            <a:ext cx="1783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40112" y="141732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0" y="1527048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Desviación estándar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1801368"/>
            <a:ext cx="16459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$ 435,8 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2441448"/>
            <a:ext cx="1783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65592" y="2441448"/>
            <a:ext cx="548640" cy="548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551176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Coeficiente de variación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2825496"/>
            <a:ext cx="16459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1" i="0">
                <a:solidFill>
                  <a:srgbClr val="C0392B"/>
                </a:solidFill>
                <a:latin typeface="Calibri"/>
              </a:rPr>
              <a:t>96,9 %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75520" y="2441448"/>
            <a:ext cx="1783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040112" y="2441448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0" y="2551176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Coeficiente de asimetría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2825496"/>
            <a:ext cx="16459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0,69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1000" y="3465576"/>
            <a:ext cx="1783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65592" y="3465576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92440" y="3575304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Límite inferior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3849624"/>
            <a:ext cx="16459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$ 13,8 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20" y="3465576"/>
            <a:ext cx="1783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40112" y="3465576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66960" y="3575304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Límite superior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6960" y="3849624"/>
            <a:ext cx="16459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700" b="1" i="0">
                <a:solidFill>
                  <a:srgbClr val="1F3864"/>
                </a:solidFill>
                <a:latin typeface="Calibri"/>
              </a:rPr>
              <a:t>$ 885,4 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01000" y="4526280"/>
            <a:ext cx="3657600" cy="164592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18900000"/>
          </a:gradFill>
          <a:ln>
            <a:noFill/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663440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VALOR ADOPTADO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983480"/>
            <a:ext cx="32918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$ 449,6 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566928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D9D9D9"/>
                </a:solidFill>
                <a:latin typeface="Calibri"/>
              </a:rPr>
              <a:t>por hectárea · muestra general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COMBINACIONES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Combinaciones de ofertas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Grupos de 3 o más ofertas · CV máximo admisible 10 % (Res. 941)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6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355092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146304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00200"/>
            <a:ext cx="190499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Combinación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011680"/>
            <a:ext cx="3185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OFERTAS: 3, 4,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331720"/>
            <a:ext cx="21945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600" b="1" i="0">
                <a:solidFill>
                  <a:srgbClr val="C0392B"/>
                </a:solidFill>
                <a:latin typeface="Calibri"/>
              </a:rPr>
              <a:t>18,9 %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9400" y="26060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NO CUMPLE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10128"/>
            <a:ext cx="31851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3310128"/>
            <a:ext cx="1998861" cy="14630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77218" y="3264408"/>
            <a:ext cx="24000" cy="237744"/>
          </a:xfrm>
          <a:prstGeom prst="rect">
            <a:avLst/>
          </a:prstGeom>
          <a:solidFill>
            <a:srgbClr val="378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474720"/>
            <a:ext cx="3185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37863C"/>
                </a:solidFill>
                <a:latin typeface="Calibri"/>
              </a:rPr>
              <a:t>│ máximo admisible 10 %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840480"/>
            <a:ext cx="16459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Promedio $/ha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50791"/>
            <a:ext cx="1737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$ 630,0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3840480"/>
            <a:ext cx="16459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Desv. estándar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4050791"/>
            <a:ext cx="1737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$ 119,1 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8159" y="1463040"/>
            <a:ext cx="355092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92751" y="146304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11039" y="1600200"/>
            <a:ext cx="190499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Combinación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1039" y="2011680"/>
            <a:ext cx="3185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OFERTAS: 5, 3, 4,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1039" y="2331720"/>
            <a:ext cx="21945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600" b="1" i="0">
                <a:solidFill>
                  <a:srgbClr val="C0392B"/>
                </a:solidFill>
                <a:latin typeface="Calibri"/>
              </a:rPr>
              <a:t>25,9 %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98919" y="26060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NO CUMPLE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11039" y="3310128"/>
            <a:ext cx="31851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11039" y="3310128"/>
            <a:ext cx="2740921" cy="14630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56737" y="3264408"/>
            <a:ext cx="24000" cy="237744"/>
          </a:xfrm>
          <a:prstGeom prst="rect">
            <a:avLst/>
          </a:prstGeom>
          <a:solidFill>
            <a:srgbClr val="378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1039" y="3474720"/>
            <a:ext cx="3185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37863C"/>
                </a:solidFill>
                <a:latin typeface="Calibri"/>
              </a:rPr>
              <a:t>│ máximo admisible 10 %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1039" y="3840480"/>
            <a:ext cx="16459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Promedio $/ha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1039" y="4050791"/>
            <a:ext cx="1737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$ 573,8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03619" y="3840480"/>
            <a:ext cx="16459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Desv. estándar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03619" y="4050791"/>
            <a:ext cx="1737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$ 148,7 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7679" y="1463040"/>
            <a:ext cx="355092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72271" y="146304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07679" y="1463040"/>
            <a:ext cx="3550920" cy="306324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195559" y="162763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SELECCIONADA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0559" y="1600200"/>
            <a:ext cx="190499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Combinación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90559" y="2011680"/>
            <a:ext cx="3185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OFERTAS: 5, 3, 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0559" y="2331720"/>
            <a:ext cx="21945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600" b="1" i="0">
                <a:solidFill>
                  <a:srgbClr val="C0392B"/>
                </a:solidFill>
                <a:latin typeface="Calibri"/>
              </a:rPr>
              <a:t>26,2 %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378439" y="26060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NO CUMPLE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90559" y="3310128"/>
            <a:ext cx="31851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290559" y="3310128"/>
            <a:ext cx="2769704" cy="14630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36257" y="3264408"/>
            <a:ext cx="24000" cy="237744"/>
          </a:xfrm>
          <a:prstGeom prst="rect">
            <a:avLst/>
          </a:prstGeom>
          <a:solidFill>
            <a:srgbClr val="378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90559" y="3474720"/>
            <a:ext cx="3185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37863C"/>
                </a:solidFill>
                <a:latin typeface="Calibri"/>
              </a:rPr>
              <a:t>│ máximo admisible 10 %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0559" y="3840480"/>
            <a:ext cx="16459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Promedio $/ha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90559" y="4050791"/>
            <a:ext cx="1737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$ 525,0 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83139" y="3840480"/>
            <a:ext cx="16459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  <a:latin typeface="Calibri"/>
              </a:rPr>
              <a:t>Desv. estándar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83139" y="4050791"/>
            <a:ext cx="1737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$ 137,5 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4754880"/>
            <a:ext cx="11109960" cy="13716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0"/>
          </a:gradFill>
          <a:ln>
            <a:noFill/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" y="489204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COMBINACIÓN SELECCIONADA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5212080"/>
            <a:ext cx="38404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Combinación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5669280"/>
            <a:ext cx="3931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200" b="0" i="0">
                <a:solidFill>
                  <a:srgbClr val="D9D9D9"/>
                </a:solidFill>
                <a:latin typeface="Calibri"/>
              </a:rPr>
              <a:t>Ofertas 5, 3, 4 (3 ofertas)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36592" y="4983480"/>
            <a:ext cx="12000" cy="914400"/>
          </a:xfrm>
          <a:prstGeom prst="rect">
            <a:avLst/>
          </a:prstGeom>
          <a:solidFill>
            <a:srgbClr val="8FAADC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46320" y="4937760"/>
            <a:ext cx="1645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50">
                <a:solidFill>
                  <a:srgbClr val="8FAADC"/>
                </a:solidFill>
                <a:latin typeface="Calibri"/>
              </a:rPr>
              <a:t>CV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46320" y="5257800"/>
            <a:ext cx="16916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  <a:latin typeface="Calibri"/>
              </a:rPr>
              <a:t>26,2 %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19672" y="4983480"/>
            <a:ext cx="12000" cy="914400"/>
          </a:xfrm>
          <a:prstGeom prst="rect">
            <a:avLst/>
          </a:prstGeom>
          <a:solidFill>
            <a:srgbClr val="8FAADC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29400" y="4937760"/>
            <a:ext cx="1645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50">
                <a:solidFill>
                  <a:srgbClr val="8FAADC"/>
                </a:solidFill>
                <a:latin typeface="Calibri"/>
              </a:rPr>
              <a:t>¿CUMPLE?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29400" y="5257800"/>
            <a:ext cx="16916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02752" y="4983480"/>
            <a:ext cx="12000" cy="914400"/>
          </a:xfrm>
          <a:prstGeom prst="rect">
            <a:avLst/>
          </a:prstGeom>
          <a:solidFill>
            <a:srgbClr val="8FAADC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12480" y="4937760"/>
            <a:ext cx="1645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50">
                <a:solidFill>
                  <a:srgbClr val="8FAADC"/>
                </a:solidFill>
                <a:latin typeface="Calibri"/>
              </a:rPr>
              <a:t>VALOR POR HA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5257800"/>
            <a:ext cx="16916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$ 525,0 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85831" y="4983480"/>
            <a:ext cx="12000" cy="914400"/>
          </a:xfrm>
          <a:prstGeom prst="rect">
            <a:avLst/>
          </a:prstGeom>
          <a:solidFill>
            <a:srgbClr val="8FAADC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95559" y="4937760"/>
            <a:ext cx="1645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50">
                <a:solidFill>
                  <a:srgbClr val="8FAADC"/>
                </a:solidFill>
                <a:latin typeface="Calibri"/>
              </a:rPr>
              <a:t>VALOR POR M²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195559" y="5257800"/>
            <a:ext cx="16916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$ 52.500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PROYECCIÓN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Proyección del valor esperado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Rango de orientación entre dos combinaciones de referencia · sin valor puntual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7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35661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146304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9808" y="1691640"/>
            <a:ext cx="502920" cy="5029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1645920"/>
            <a:ext cx="2651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REFERENCIA BAJA · $/ha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1883664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$ 525,0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404872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Combinación 3 · ofertas 5, 3,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463040"/>
            <a:ext cx="356616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62272" y="146304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98848" y="1691640"/>
            <a:ext cx="502920" cy="5029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1645920"/>
            <a:ext cx="2651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REFERENCIA ALTA · $/ha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1883664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$ 630,0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2404872"/>
            <a:ext cx="265176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Combinación 1 · ofertas 3, 4, 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1463040"/>
            <a:ext cx="361188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11312" y="1463040"/>
            <a:ext cx="548640" cy="54864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47888" y="1691640"/>
            <a:ext cx="502920" cy="5029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1645920"/>
            <a:ext cx="2697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AMPLITUD DEL RANGO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1883664"/>
            <a:ext cx="26974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2600" b="1" i="0">
                <a:solidFill>
                  <a:srgbClr val="1F3864"/>
                </a:solidFill>
                <a:latin typeface="Calibri"/>
              </a:rPr>
              <a:t>$ 105,0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2404872"/>
            <a:ext cx="26974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20 % de la referencia baja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971800"/>
            <a:ext cx="111099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063240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POSICIÓN DEL VALOR ADOPTADO FRENTE AL RANGO · $ millones por ha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3931920"/>
            <a:ext cx="10424160" cy="32918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62441" y="3931920"/>
            <a:ext cx="2761872" cy="3291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134425" y="3968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F3864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9481" y="4343400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Baja 525,0</a:t>
            </a:r>
          </a:p>
        </p:txBody>
      </p:sp>
      <p:sp>
        <p:nvSpPr>
          <p:cNvPr id="36" name="Oval 35"/>
          <p:cNvSpPr/>
          <p:nvPr/>
        </p:nvSpPr>
        <p:spPr>
          <a:xfrm>
            <a:off x="7896297" y="3968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F3864"/>
                </a:solidFill>
                <a:latin typeface="Calibri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1353" y="4343400"/>
            <a:ext cx="1645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Alta 630,0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64729" y="3611880"/>
            <a:ext cx="30000" cy="320040"/>
          </a:xfrm>
          <a:prstGeom prst="rect">
            <a:avLst/>
          </a:prstGeom>
          <a:solidFill>
            <a:srgbClr val="378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24281" y="3941064"/>
            <a:ext cx="310896" cy="310896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F3864"/>
                </a:solidFill>
                <a:latin typeface="Calibr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91009" y="3291840"/>
            <a:ext cx="2377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37863C"/>
                </a:solidFill>
                <a:latin typeface="Calibri"/>
              </a:rPr>
              <a:t>Adoptado 449,6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4983480"/>
          <a:ext cx="11109955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32166"/>
                <a:gridCol w="1932166"/>
                <a:gridCol w="1569885"/>
                <a:gridCol w="1932166"/>
                <a:gridCol w="1449125"/>
                <a:gridCol w="1086843"/>
                <a:gridCol w="1207604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Referencia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Combinación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Promedio $/ha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$/m²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CV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¿Cumple?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REFERENCIA BAJA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Combinación 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5, 3, 4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$ 525,0 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$ 52.500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26,2 %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REFERENCIA ALTA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Combinación 1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3, 4, 6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$ 630,0 M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$ 63.000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18,9 %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548640" y="5989320"/>
            <a:ext cx="111099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Ninguna combinación de 3 o más ofertas alcanza CV ≤ 10% (mejor CV: 18,9%). Los valores son solo ORIENTATIVOS y no sustentan un valor adoptado; se requieren más ofertas del mismo segmento, dentro de la banda admisible de la combinación elegida.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CONSTRUCCIONES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Depreciación de construcciones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Método Ross-Heidecke · barra = valor remanente (1 − depreciación)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8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17320"/>
            <a:ext cx="1110996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08760"/>
            <a:ext cx="2103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6B7280"/>
                </a:solidFill>
                <a:latin typeface="Calibri"/>
              </a:rPr>
              <a:t>ÍTEM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1508760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6B7280"/>
                </a:solidFill>
                <a:latin typeface="Calibri"/>
              </a:rPr>
              <a:t>EDAD / VIDA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1508760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6B7280"/>
                </a:solidFill>
                <a:latin typeface="Calibri"/>
              </a:rPr>
              <a:t>ESTADO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1508760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6B7280"/>
                </a:solidFill>
                <a:latin typeface="Calibri"/>
              </a:rPr>
              <a:t>REPOSICIÓN $/m²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508760"/>
            <a:ext cx="2377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900" b="1" i="0" spc="100">
                <a:solidFill>
                  <a:srgbClr val="6B7280"/>
                </a:solidFill>
                <a:latin typeface="Calibri"/>
              </a:rPr>
              <a:t>VALOR REMANENTE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1508760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900" b="1" i="0" spc="100">
                <a:solidFill>
                  <a:srgbClr val="6B7280"/>
                </a:solidFill>
                <a:latin typeface="Calibri"/>
              </a:rPr>
              <a:t>ÁREA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508760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900" b="1" i="0" spc="100">
                <a:solidFill>
                  <a:srgbClr val="6B7280"/>
                </a:solidFill>
                <a:latin typeface="Calibri"/>
              </a:rPr>
              <a:t>VALOR TOTAL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874519"/>
            <a:ext cx="10835640" cy="54864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21031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Casa Principal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1874519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30 / 70 años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05072" y="2020823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1874519"/>
            <a:ext cx="1371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$ 1.131.400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2075687"/>
            <a:ext cx="17373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55080" y="2075687"/>
            <a:ext cx="1107988" cy="146304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1874519"/>
            <a:ext cx="640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64 %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1874519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3A4457"/>
                </a:solidFill>
                <a:latin typeface="Calibri"/>
              </a:rPr>
              <a:t>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1874519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1F3864"/>
                </a:solidFill>
                <a:latin typeface="Calibri"/>
              </a:rPr>
              <a:t>$ 70.034.000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2423160"/>
            <a:ext cx="21031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Casa Mayordomo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2423160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30 / 70 años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5072" y="2569463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2423160"/>
            <a:ext cx="1371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$ 1.131.400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80" y="2624327"/>
            <a:ext cx="17373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55080" y="2624327"/>
            <a:ext cx="805284" cy="14630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2423160"/>
            <a:ext cx="640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46 %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2423160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3A4457"/>
                </a:solidFill>
                <a:latin typeface="Calibri"/>
              </a:rPr>
              <a:t>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2423160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1F3864"/>
                </a:solidFill>
                <a:latin typeface="Calibri"/>
              </a:rPr>
              <a:t>$ 36.680.000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971800"/>
            <a:ext cx="10835640" cy="54864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2971800"/>
            <a:ext cx="21031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Casa pequeña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0360" y="2971800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25 / 70 años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05072" y="3118103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2971800"/>
            <a:ext cx="1371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$ 1.131.400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55080" y="3172968"/>
            <a:ext cx="17373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355080" y="3172968"/>
            <a:ext cx="879299" cy="146304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0" y="2971800"/>
            <a:ext cx="640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51 %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2971800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3A4457"/>
                </a:solidFill>
                <a:latin typeface="Calibri"/>
              </a:rPr>
              <a:t>53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2971800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1F3864"/>
                </a:solidFill>
                <a:latin typeface="Calibri"/>
              </a:rPr>
              <a:t>$ 30.369.000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3520440"/>
            <a:ext cx="21031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Bodega principal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3520440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30 / 70 años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005072" y="3666744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54880" y="3520440"/>
            <a:ext cx="1371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$ 1.286.778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55080" y="3721608"/>
            <a:ext cx="17373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55080" y="3721608"/>
            <a:ext cx="571414" cy="14630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38160" y="3520440"/>
            <a:ext cx="640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33 %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69680" y="3520440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3A4457"/>
                </a:solidFill>
                <a:latin typeface="Calibri"/>
              </a:rPr>
              <a:t>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92640" y="3520440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1F3864"/>
                </a:solidFill>
                <a:latin typeface="Calibri"/>
              </a:rPr>
              <a:t>$ 14.805.000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5800" y="4069080"/>
            <a:ext cx="10835640" cy="54864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4069080"/>
            <a:ext cx="21031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Bodega auxiliar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80360" y="4069080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30 / 50 años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005072" y="4215384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54880" y="4069080"/>
            <a:ext cx="1371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$ 1.286.778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355080" y="4270248"/>
            <a:ext cx="17373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355080" y="4270248"/>
            <a:ext cx="428224" cy="146304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38160" y="4069080"/>
            <a:ext cx="640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25 %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69680" y="4069080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3A4457"/>
                </a:solidFill>
                <a:latin typeface="Calibri"/>
              </a:rPr>
              <a:t>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4069080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1F3864"/>
                </a:solidFill>
                <a:latin typeface="Calibri"/>
              </a:rPr>
              <a:t>$ 8.876.000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4617720"/>
            <a:ext cx="210312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Cuarto útil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80360" y="4617720"/>
            <a:ext cx="10972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30 / 70 años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005072" y="4764024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54880" y="4617720"/>
            <a:ext cx="1371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3A4457"/>
                </a:solidFill>
                <a:latin typeface="Calibri"/>
              </a:rPr>
              <a:t>$ 1.231.701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355080" y="4818888"/>
            <a:ext cx="1737360" cy="146304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355080" y="4818888"/>
            <a:ext cx="987316" cy="146304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38160" y="4617720"/>
            <a:ext cx="640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57 %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69680" y="4617720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100" b="0" i="0">
                <a:solidFill>
                  <a:srgbClr val="3A4457"/>
                </a:solidFill>
                <a:latin typeface="Calibri"/>
              </a:rPr>
              <a:t>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92640" y="4617720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1F3864"/>
                </a:solidFill>
                <a:latin typeface="Calibri"/>
              </a:rPr>
              <a:t>$ 11.900.000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85800" y="5212079"/>
            <a:ext cx="10835640" cy="54864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" y="5212079"/>
            <a:ext cx="3657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200" b="1" i="0" spc="100">
                <a:solidFill>
                  <a:srgbClr val="92D050"/>
                </a:solidFill>
                <a:latin typeface="Calibri"/>
              </a:rPr>
              <a:t>TOTAL CONSTRUCCIONES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69680" y="5212079"/>
            <a:ext cx="8229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Calibri"/>
              </a:rPr>
              <a:t>300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92640" y="5212079"/>
            <a:ext cx="178308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$ 172.664.000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LIQUIDACIÓN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Liquidación del avalúo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Terreno + construcciones · totales redondeados a la centena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9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11109960" cy="123444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0"/>
          </a:gradFill>
          <a:ln>
            <a:noFill/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72768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VALOR TOTAL DEL AVALÚO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82880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$ 1.071.907.800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627632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250">
                <a:solidFill>
                  <a:srgbClr val="92D050"/>
                </a:solidFill>
                <a:latin typeface="Calibri"/>
              </a:rPr>
              <a:t>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74519"/>
            <a:ext cx="51206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MIL SETENTA Y UN MILLONES NOVECIENTOS SIETE MIL OCHOCIENTOS PESOS MLV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2880360"/>
          <a:ext cx="6949438" cy="3246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42478"/>
                <a:gridCol w="677994"/>
                <a:gridCol w="847492"/>
                <a:gridCol w="1355988"/>
                <a:gridCol w="1525486"/>
              </a:tblGrid>
              <a:tr h="360680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Unidad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Cantidad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Valor unitario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Valor total</a:t>
                      </a:r>
                    </a:p>
                  </a:txBody>
                  <a:tcPr marL="73152" marR="73152" marT="18288" marB="18288" anchor="ctr">
                    <a:solidFill>
                      <a:srgbClr val="1F3864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Terreno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Ha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2,00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$ 449.621.900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$ 899.243.800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Casa Principal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$ 722.000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$ 70.034.000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Casa Mayordomo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$ 524.000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$ 36.680.000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Casa Pequeña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$ 573.000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$ 30.369.000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Bodega Principal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$ 423.000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$ 14.805.000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Bodega Auxiliar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$ 317.000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$ 8.876.000</a:t>
                      </a:r>
                    </a:p>
                  </a:txBody>
                  <a:tcPr marL="73152" marR="73152" marT="18288" marB="18288" anchor="ctr">
                    <a:solidFill>
                      <a:srgbClr val="F7F9FC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Cuarto Útil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$ 700.000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$ 11.900.000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6068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B33"/>
                          </a:solidFill>
                          <a:latin typeface="Calibri"/>
                        </a:rPr>
                        <a:t>VALOR TOTAL DEL AVALÚO</a:t>
                      </a:r>
                    </a:p>
                  </a:txBody>
                  <a:tcPr marL="73152" marR="73152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262B33"/>
                          </a:solidFill>
                          <a:latin typeface="Calibri"/>
                        </a:rPr>
                        <a:t>$ 1.071.907.800</a:t>
                      </a:r>
                    </a:p>
                  </a:txBody>
                  <a:tcPr marL="73152" marR="73152" marT="18288" marB="18288" anchor="ctr"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7680960" y="2880360"/>
            <a:ext cx="3977639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297180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 spc="100">
                <a:solidFill>
                  <a:srgbClr val="6B7280"/>
                </a:solidFill>
                <a:latin typeface="Calibri"/>
              </a:rPr>
              <a:t>COMPOSICIÓN DEL VALOR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7726679" y="3200400"/>
          <a:ext cx="2194560" cy="2194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Rectangle 20"/>
          <p:cNvSpPr/>
          <p:nvPr/>
        </p:nvSpPr>
        <p:spPr>
          <a:xfrm>
            <a:off x="10012680" y="3685032"/>
            <a:ext cx="146304" cy="1463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22992" y="358444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3A4457"/>
                </a:solidFill>
                <a:latin typeface="Calibri"/>
              </a:rPr>
              <a:t>Terreno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381304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83,9 %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12680" y="4325112"/>
            <a:ext cx="146304" cy="14630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2992" y="42245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3A4457"/>
                </a:solidFill>
                <a:latin typeface="Calibri"/>
              </a:rPr>
              <a:t>Constr. principal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445312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6,5 %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4965192"/>
            <a:ext cx="146304" cy="146304"/>
          </a:xfrm>
          <a:prstGeom prst="rect">
            <a:avLst/>
          </a:prstGeom>
          <a:solidFill>
            <a:srgbClr val="8FA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22992" y="486460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3A4457"/>
                </a:solidFill>
                <a:latin typeface="Calibri"/>
              </a:rPr>
              <a:t>Constr. anexas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5093208"/>
            <a:ext cx="1463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9,6 %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5532120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Construcciones: $ 172,7 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 rotWithShape="1">
            <a:gsLst>
              <a:gs pos="0">
                <a:srgbClr val="1F3864"/>
              </a:gs>
              <a:gs pos="100000">
                <a:srgbClr val="2F559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H="1">
            <a:off x="10728655" y="0"/>
            <a:ext cx="1463040" cy="100584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323015" y="128016"/>
            <a:ext cx="566928" cy="566928"/>
          </a:xfrm>
          <a:prstGeom prst="ellipse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1F3864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2F5597"/>
                </a:solidFill>
                <a:latin typeface="Calibri"/>
              </a:rPr>
              <a:t>CONCLUSIONES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5488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Observaciones y salvedades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987552"/>
            <a:ext cx="10515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Alcance y limitaciones del estudio · responsable técnico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73952"/>
            <a:ext cx="11094415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F3864"/>
                </a:solidFill>
                <a:latin typeface="Calibri"/>
              </a:rPr>
              <a:t>Andrés Felipe Cuartas Montoya  ·  RAA 1.128.391.782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655" y="6510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rural  ·  10 de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463040"/>
            <a:ext cx="7498079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1682496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463040"/>
            <a:ext cx="672084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Búsqueda realizada el 01/10/2026 en Fincaraíz, Punto Propiedad y FazWaz. Mercado Libre exigió inicio de sesión y Mitula/Trovit bloquearon el acceso, por lo que no fueron revisados.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95728"/>
            <a:ext cx="7498079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615184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395728"/>
            <a:ext cx="672084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Solo se encontró UNA oferta vigente con uso agropecuario en el corredor (finca de 301 ha en Dibulla, ~$26 M/ha pedido). La oferta pública en línea de la zona está dominada por lotes turísticos de playa y lotes comerciales sobre la Troncal, que no son comparables con un predio agropecuario interior situado a 1,5–2 km de la vía.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28416"/>
            <a:ext cx="7498079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3547872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328416"/>
            <a:ext cx="672084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La tabla de mercado incluye, además de la oferta agropecuaria vigente (No. 1), las 7 ofertas descartadas (No. 2 a 8), vinculadas por fórmula a la sección inferior. Como son lotes turísticos, de playa o campestres, el promedio, la desviación estándar y el coeficiente de variación no son representativos del suelo agropecuario interior; el valor adoptado no se calcula con ellos y debe soportarse con ofertas de campo (avisos en s…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61104"/>
            <a:ext cx="7498079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4480560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261104"/>
            <a:ext cx="672084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El % de negociación (col. D) queda en 10 % porque no se obtuvo valor depurado; debe ajustarse con la negociación que confirme la fuente.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93792"/>
            <a:ext cx="7498079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6EF"/>
            </a:solidFill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5413248"/>
            <a:ext cx="402336" cy="402336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193792"/>
            <a:ext cx="6720840" cy="8412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050" b="0" i="0">
                <a:solidFill>
                  <a:srgbClr val="3A4457"/>
                </a:solidFill>
                <a:latin typeface="Calibri"/>
              </a:rPr>
              <a:t>La oferta de 301 ha tiene frente sobre la Troncal y un tamaño muy superior; dado que la Res. 941/2026 prohíbe la homogenización por factores, su uso debe sustentarse por similitud y no mediante ajustes.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1463040"/>
            <a:ext cx="3383280" cy="466344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0F1F3D"/>
              </a:gs>
              <a:gs pos="100000">
                <a:srgbClr val="2F5597"/>
              </a:gs>
            </a:gsLst>
            <a:lin scaled="0" ang="18000000"/>
          </a:gradFill>
          <a:ln>
            <a:noFill/>
          </a:ln>
          <a:effectLst>
            <a:outerShdw blurRad="114300" dist="38100" dir="5400000" algn="t" rotWithShape="0">
              <a:srgbClr val="0F1F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1783080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1" i="0" spc="300">
                <a:solidFill>
                  <a:srgbClr val="92D050"/>
                </a:solidFill>
                <a:latin typeface="Calibri"/>
              </a:rPr>
              <a:t>AVALUADOR</a:t>
            </a:r>
          </a:p>
        </p:txBody>
      </p:sp>
      <p:sp>
        <p:nvSpPr>
          <p:cNvPr id="29" name="Oval 28"/>
          <p:cNvSpPr/>
          <p:nvPr/>
        </p:nvSpPr>
        <p:spPr>
          <a:xfrm>
            <a:off x="9509760" y="2194560"/>
            <a:ext cx="914400" cy="914400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AF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3246120"/>
            <a:ext cx="29260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Andrés Felipe Cuartas Montoya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114800"/>
            <a:ext cx="29260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300" b="1" i="0">
                <a:solidFill>
                  <a:srgbClr val="92D050"/>
                </a:solidFill>
                <a:latin typeface="Calibri"/>
              </a:rPr>
              <a:t>RAA 1.128.391.782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0" y="5257800"/>
            <a:ext cx="2560320" cy="12000"/>
          </a:xfrm>
          <a:prstGeom prst="rect">
            <a:avLst/>
          </a:prstGeom>
          <a:solidFill>
            <a:srgbClr val="8FA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5303520"/>
            <a:ext cx="2926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000" b="0" i="0">
                <a:solidFill>
                  <a:srgbClr val="8FAADC"/>
                </a:solidFill>
                <a:latin typeface="Calibri"/>
              </a:rPr>
              <a:t>Firma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669280"/>
            <a:ext cx="29260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Fecha del estudio: 01/10/2026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