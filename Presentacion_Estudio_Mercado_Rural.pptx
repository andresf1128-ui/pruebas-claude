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Valor $/ha (millones)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1F3864"/>
              </a:solidFill>
            </c:spPr>
          </c:dPt>
          <c:dPt>
            <c:idx val="1"/>
            <c:spPr>
              <a:solidFill>
                <a:srgbClr val="BFBFBF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BFBFBF"/>
              </a:solidFill>
            </c:spPr>
          </c:dPt>
          <c:dPt>
            <c:idx val="4"/>
            <c:spPr>
              <a:solidFill>
                <a:srgbClr val="BFBFBF"/>
              </a:solidFill>
            </c:spPr>
          </c:dPt>
          <c:dPt>
            <c:idx val="5"/>
            <c:spPr>
              <a:solidFill>
                <a:srgbClr val="BFBFBF"/>
              </a:solidFill>
            </c:spPr>
          </c:dPt>
          <c:dPt>
            <c:idx val="6"/>
            <c:spPr>
              <a:solidFill>
                <a:srgbClr val="BFBFBF"/>
              </a:solidFill>
            </c:spPr>
          </c:dPt>
          <c:dPt>
            <c:idx val="7"/>
            <c:spPr>
              <a:solidFill>
                <a:srgbClr val="BFBFBF"/>
              </a:solidFill>
            </c:spPr>
          </c:dPt>
          <c:dLbls>
            <c:numFmt formatCode="#,##0.0" sourceLinked="0"/>
            <c:txPr>
              <a:bodyPr/>
              <a:lstStyle/>
              <a:p>
                <a:pPr>
                  <a:defRPr sz="10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Of. 1</c:v>
                </c:pt>
                <c:pt idx="1">
                  <c:v>Of. 2</c:v>
                </c:pt>
                <c:pt idx="2">
                  <c:v>Of. 3</c:v>
                </c:pt>
                <c:pt idx="3">
                  <c:v>Of. 4</c:v>
                </c:pt>
                <c:pt idx="4">
                  <c:v>Of. 5</c:v>
                </c:pt>
                <c:pt idx="5">
                  <c:v>Of. 6</c:v>
                </c:pt>
                <c:pt idx="6">
                  <c:v>Of. 7</c:v>
                </c:pt>
                <c:pt idx="7">
                  <c:v>Of.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23.4</c:v>
                </c:pt>
                <c:pt idx="1">
                  <c:v>1250.0</c:v>
                </c:pt>
                <c:pt idx="2">
                  <c:v>495.0</c:v>
                </c:pt>
                <c:pt idx="3">
                  <c:v>675.0</c:v>
                </c:pt>
                <c:pt idx="4">
                  <c:v>405.0</c:v>
                </c:pt>
                <c:pt idx="5">
                  <c:v>720.0</c:v>
                </c:pt>
                <c:pt idx="6">
                  <c:v>27.0</c:v>
                </c:pt>
                <c:pt idx="7">
                  <c:v>1.575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logBase val="10"/>
          <c:orientation val="minMax"/>
          <c:min val="1.0"/>
        </c:scaling>
        <c:delete val="0"/>
        <c:axPos val="l"/>
        <c:majorGridlines>
          <c:spPr>
            <a:ln>
              <a:solidFill>
                <a:srgbClr val="E1E6EF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3A445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Valor</c:v>
                </c:pt>
              </c:strCache>
            </c:strRef>
          </c:tx>
          <c:dPt>
            <c:idx val="0"/>
            <c:spPr>
              <a:solidFill>
                <a:srgbClr val="1F3864"/>
              </a:solidFill>
            </c:spPr>
          </c:dPt>
          <c:dPt>
            <c:idx val="1"/>
            <c:spPr>
              <a:solidFill>
                <a:srgbClr val="2F5597"/>
              </a:solidFill>
            </c:spPr>
          </c:dPt>
          <c:dPt>
            <c:idx val="2"/>
            <c:spPr>
              <a:solidFill>
                <a:srgbClr val="8FAADC"/>
              </a:solidFill>
            </c:spPr>
          </c:dPt>
          <c:cat>
            <c:strRef>
              <c:f>Sheet1!$A$2:$A$4</c:f>
              <c:strCache>
                <c:ptCount val="3"/>
                <c:pt idx="0">
                  <c:v>Terreno</c:v>
                </c:pt>
                <c:pt idx="1">
                  <c:v>Constr. principal</c:v>
                </c:pt>
                <c:pt idx="2">
                  <c:v>Constr. anexas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899.2438</c:v>
                </c:pt>
                <c:pt idx="1">
                  <c:v>70.034</c:v>
                </c:pt>
                <c:pt idx="2">
                  <c:v>102.63</c:v>
                </c:pt>
              </c:numCache>
            </c:numRef>
          </c:val>
        </c:ser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100">
          <a:solidFill>
            <a:srgbClr val="3A4457"/>
          </a:solidFill>
          <a:latin typeface="Calibri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F1F3D"/>
              </a:gs>
              <a:gs pos="100000">
                <a:srgbClr val="2F5597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o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7680960" y="-1645920"/>
            <a:ext cx="6583680" cy="6583680"/>
          </a:xfrm>
          <a:prstGeom prst="ellipse">
            <a:avLst/>
          </a:prstGeom>
          <a:solidFill>
            <a:srgbClr val="2F559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3566160"/>
            <a:ext cx="3291840" cy="3291840"/>
          </a:xfrm>
          <a:prstGeom prst="ellipse">
            <a:avLst/>
          </a:prstGeom>
          <a:solidFill>
            <a:srgbClr val="92D05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822960" cy="64008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 spc="300">
                <a:solidFill>
                  <a:srgbClr val="92D050"/>
                </a:solidFill>
                <a:latin typeface="Calibri"/>
              </a:rPr>
              <a:t>GESTIÓN VALUATORIA  ·  RES. 941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9601200" cy="2103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Estudio de mercado</a:t>
            </a:r>
          </a:p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predios rurales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8686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000" b="0" i="0">
                <a:solidFill>
                  <a:srgbClr val="D9D9D9"/>
                </a:solidFill>
                <a:latin typeface="Calibri"/>
              </a:rPr>
              <a:t>Predio rural, sector Puente Bomba – El Ebanal (corr. Tigreras)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343400"/>
            <a:ext cx="3566160" cy="384048"/>
          </a:xfrm>
          <a:prstGeom prst="roundRect">
            <a:avLst>
              <a:gd name="adj" fmla="val 50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RIOHACHA  ·  LA GUAJIRA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66360"/>
            <a:ext cx="10698480" cy="1234440"/>
          </a:xfrm>
          <a:prstGeom prst="roundRect">
            <a:avLst>
              <a:gd name="adj" fmla="val 12000"/>
            </a:avLst>
          </a:prstGeom>
          <a:solidFill>
            <a:srgbClr val="FFFFFF">
              <a:alpha val="9000"/>
            </a:srgbClr>
          </a:solidFill>
          <a:ln w="9525">
            <a:solidFill>
              <a:srgbClr val="8FA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28523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 spc="250">
                <a:solidFill>
                  <a:srgbClr val="92D050"/>
                </a:solidFill>
                <a:latin typeface="Calibri"/>
              </a:rPr>
              <a:t>AVALUADOR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532120"/>
            <a:ext cx="5943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Andrés Felipe Cuartas Montoya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961888"/>
            <a:ext cx="54864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0" i="0">
                <a:solidFill>
                  <a:srgbClr val="D9D9D9"/>
                </a:solidFill>
                <a:latin typeface="Calibri"/>
              </a:rPr>
              <a:t>RAA 1.128.391.782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60" y="5349240"/>
            <a:ext cx="12000" cy="868680"/>
          </a:xfrm>
          <a:prstGeom prst="rect">
            <a:avLst/>
          </a:prstGeom>
          <a:solidFill>
            <a:srgbClr val="8FA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79" y="52852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 spc="250">
                <a:solidFill>
                  <a:srgbClr val="92D050"/>
                </a:solidFill>
                <a:latin typeface="Calibri"/>
              </a:rPr>
              <a:t>FECHA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5532120"/>
            <a:ext cx="21945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01/10/2026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52852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 spc="250">
                <a:solidFill>
                  <a:srgbClr val="92D050"/>
                </a:solidFill>
                <a:latin typeface="Calibri"/>
              </a:rPr>
              <a:t>SOLICITANTE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5596128"/>
            <a:ext cx="1920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(Por definir)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 rotWithShape="1">
            <a:gsLst>
              <a:gs pos="0">
                <a:srgbClr val="1F3864"/>
              </a:gs>
              <a:gs pos="100000">
                <a:srgbClr val="2F5597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914400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flipH="1">
            <a:off x="10728655" y="0"/>
            <a:ext cx="1463040" cy="1005840"/>
          </a:xfrm>
          <a:prstGeom prst="rtTriangl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323015" y="128016"/>
            <a:ext cx="566928" cy="566928"/>
          </a:xfrm>
          <a:prstGeom prst="ellipse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1F3864"/>
                </a:solidFill>
                <a:latin typeface="Calibr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2F5597"/>
                </a:solidFill>
                <a:latin typeface="Calibri"/>
              </a:rPr>
              <a:t>RESUMEN EJECUTIVO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5488"/>
            <a:ext cx="10058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El avalúo en una mirada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0515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Resultado del estudio y estado frente a la Resolución 941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73952"/>
            <a:ext cx="11094415" cy="9525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1F3864"/>
                </a:solidFill>
                <a:latin typeface="Calibri"/>
              </a:rPr>
              <a:t>Andrés Felipe Cuartas Montoya  ·  RAA 1.128.391.782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6655" y="651052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rural  ·  2 de 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463040"/>
            <a:ext cx="4206240" cy="461772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0F1F3D"/>
              </a:gs>
              <a:gs pos="100000">
                <a:srgbClr val="2F5597"/>
              </a:gs>
            </a:gsLst>
            <a:lin scaled="0" ang="18000000"/>
          </a:gradFill>
          <a:ln>
            <a:noFill/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737360"/>
            <a:ext cx="3657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 spc="250">
                <a:solidFill>
                  <a:srgbClr val="92D050"/>
                </a:solidFill>
                <a:latin typeface="Calibri"/>
              </a:rPr>
              <a:t>VALOR TOTAL DEL AVALÚO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148840"/>
            <a:ext cx="3657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$ 1.071,9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063240"/>
            <a:ext cx="3657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800" b="0" i="0">
                <a:solidFill>
                  <a:srgbClr val="D9D9D9"/>
                </a:solidFill>
                <a:latin typeface="Calibri"/>
              </a:rPr>
              <a:t>$ 1.071.907.800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3611880"/>
            <a:ext cx="640080" cy="25000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94760"/>
            <a:ext cx="356616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 i="1">
                <a:solidFill>
                  <a:srgbClr val="D9D9D9"/>
                </a:solidFill>
                <a:latin typeface="Calibri"/>
              </a:rPr>
              <a:t>Mil setenta y un millones novecientos siete mil ochocientos pesos mlv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534924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Terreno 2,00 ha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0" y="534924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 construcciones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1463040"/>
            <a:ext cx="324612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93792" y="1463040"/>
            <a:ext cx="548640" cy="54864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30368" y="1691640"/>
            <a:ext cx="502920" cy="50292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$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1645920"/>
            <a:ext cx="23317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 spc="100">
                <a:solidFill>
                  <a:srgbClr val="6B7280"/>
                </a:solidFill>
                <a:latin typeface="Calibri"/>
              </a:rPr>
              <a:t>VALOR ADOPTADO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1883664"/>
            <a:ext cx="23317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600" b="1" i="0">
                <a:solidFill>
                  <a:srgbClr val="1F3864"/>
                </a:solidFill>
                <a:latin typeface="Calibri"/>
              </a:rPr>
              <a:t>$ 449,6 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2450592"/>
            <a:ext cx="23317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por hectárea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58200" y="1463040"/>
            <a:ext cx="324612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622792" y="1463040"/>
            <a:ext cx="548640" cy="54864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659368" y="1691640"/>
            <a:ext cx="502920" cy="50292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1645920"/>
            <a:ext cx="23317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 spc="100">
                <a:solidFill>
                  <a:srgbClr val="6B7280"/>
                </a:solidFill>
                <a:latin typeface="Calibri"/>
              </a:rPr>
              <a:t>OFERTAS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1160" y="1883664"/>
            <a:ext cx="23317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000" b="1" i="0">
                <a:solidFill>
                  <a:srgbClr val="1F3864"/>
                </a:solidFill>
                <a:latin typeface="Calibri"/>
              </a:rPr>
              <a:t>8 · 1 vigente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1160" y="2450592"/>
            <a:ext cx="23317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7 descartadas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0" y="3017520"/>
            <a:ext cx="324612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193792" y="3017520"/>
            <a:ext cx="548640" cy="54864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230368" y="3246120"/>
            <a:ext cx="502920" cy="50292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0" y="3200400"/>
            <a:ext cx="23317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 spc="100">
                <a:solidFill>
                  <a:srgbClr val="6B7280"/>
                </a:solidFill>
                <a:latin typeface="Calibri"/>
              </a:rPr>
              <a:t>VALOR POR m²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0" y="3438144"/>
            <a:ext cx="23317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400" b="1" i="0">
                <a:solidFill>
                  <a:srgbClr val="1F3864"/>
                </a:solidFill>
                <a:latin typeface="Calibri"/>
              </a:rPr>
              <a:t>$ 44.962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52160" y="4005072"/>
            <a:ext cx="23317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terreno · valor adoptado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58200" y="3017520"/>
            <a:ext cx="324612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622792" y="3017520"/>
            <a:ext cx="548640" cy="54864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659368" y="3246120"/>
            <a:ext cx="502920" cy="50292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81160" y="3200400"/>
            <a:ext cx="23317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 spc="100">
                <a:solidFill>
                  <a:srgbClr val="6B7280"/>
                </a:solidFill>
                <a:latin typeface="Calibri"/>
              </a:rPr>
              <a:t>CONSTRUCCIONES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81160" y="3438144"/>
            <a:ext cx="23317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400" b="1" i="0">
                <a:solidFill>
                  <a:srgbClr val="1F3864"/>
                </a:solidFill>
                <a:latin typeface="Calibri"/>
              </a:rPr>
              <a:t>$ 172,7 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81160" y="4005072"/>
            <a:ext cx="23317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6 construcciones · Ross-Heidecke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0" y="4572000"/>
            <a:ext cx="6675120" cy="1508760"/>
          </a:xfrm>
          <a:prstGeom prst="roundRect">
            <a:avLst>
              <a:gd name="adj" fmla="val 5000"/>
            </a:avLst>
          </a:prstGeom>
          <a:solidFill>
            <a:srgbClr val="FFF2CC"/>
          </a:solidFill>
          <a:ln>
            <a:noFill/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gau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4617720"/>
            <a:ext cx="2468880" cy="13716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7680960" y="4681728"/>
            <a:ext cx="3931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 spc="100">
                <a:solidFill>
                  <a:srgbClr val="6B7280"/>
                </a:solidFill>
                <a:latin typeface="Calibri"/>
              </a:rPr>
              <a:t>COEFICIENTE DE VARIACIÓN · MUESTRA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4919472"/>
            <a:ext cx="39319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C0392B"/>
                </a:solidFill>
                <a:latin typeface="Calibri"/>
              </a:rPr>
              <a:t>96,9 %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468112"/>
            <a:ext cx="3931920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3A4457"/>
                </a:solidFill>
                <a:latin typeface="Calibri"/>
              </a:rPr>
              <a:t>Supera el máximo de 10 % (Res. 941): se requieren más ofertas del mismo segmento.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 rotWithShape="1">
            <a:gsLst>
              <a:gs pos="0">
                <a:srgbClr val="1F3864"/>
              </a:gs>
              <a:gs pos="100000">
                <a:srgbClr val="2F5597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914400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flipH="1">
            <a:off x="10728655" y="0"/>
            <a:ext cx="1463040" cy="1005840"/>
          </a:xfrm>
          <a:prstGeom prst="rtTriangl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323015" y="128016"/>
            <a:ext cx="566928" cy="566928"/>
          </a:xfrm>
          <a:prstGeom prst="ellipse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1F3864"/>
                </a:solidFill>
                <a:latin typeface="Calibr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2F5597"/>
                </a:solidFill>
                <a:latin typeface="Calibri"/>
              </a:rPr>
              <a:t>PREDIO Y MÉTODO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5488"/>
            <a:ext cx="10058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Predio objeto y alcance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0515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Identificación del inmueble y marco metodológico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73952"/>
            <a:ext cx="11094415" cy="9525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1F3864"/>
                </a:solidFill>
                <a:latin typeface="Calibri"/>
              </a:rPr>
              <a:t>Andrés Felipe Cuartas Montoya  ·  RAA 1.128.391.782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6655" y="651052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rural  ·  3 de 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463040"/>
            <a:ext cx="5669280" cy="4617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691640"/>
            <a:ext cx="73152" cy="640080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1645920"/>
            <a:ext cx="5029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 spc="120">
                <a:solidFill>
                  <a:srgbClr val="6B7280"/>
                </a:solidFill>
                <a:latin typeface="Calibri"/>
              </a:rPr>
              <a:t>DIRECCIÓN / UBICACIÓN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1856232"/>
            <a:ext cx="5120640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Predio rural, sector Puente Bomba – El Ebanal (corr. Tigreras). Coord. 11.251133, -73.127307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542032"/>
            <a:ext cx="73152" cy="365760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2496312"/>
            <a:ext cx="5029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 spc="120">
                <a:solidFill>
                  <a:srgbClr val="6B7280"/>
                </a:solidFill>
                <a:latin typeface="Calibri"/>
              </a:rPr>
              <a:t>DEPARTAMENTO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706624"/>
            <a:ext cx="5120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LA GUAJIRA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118103"/>
            <a:ext cx="73152" cy="365760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072384"/>
            <a:ext cx="5029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 spc="120">
                <a:solidFill>
                  <a:srgbClr val="6B7280"/>
                </a:solidFill>
                <a:latin typeface="Calibri"/>
              </a:rPr>
              <a:t>MUNICIPIO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282696"/>
            <a:ext cx="5120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RIOHACHA (confirmar con número predial)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94176"/>
            <a:ext cx="73152" cy="365760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648456"/>
            <a:ext cx="5029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 spc="120">
                <a:solidFill>
                  <a:srgbClr val="6B7280"/>
                </a:solidFill>
                <a:latin typeface="Calibri"/>
              </a:rPr>
              <a:t>SOLICITANTE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858768"/>
            <a:ext cx="5120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(Por definir)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270248"/>
            <a:ext cx="73152" cy="365760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4224528"/>
            <a:ext cx="5029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 spc="120">
                <a:solidFill>
                  <a:srgbClr val="6B7280"/>
                </a:solidFill>
                <a:latin typeface="Calibri"/>
              </a:rPr>
              <a:t>REFERENCIA DE LIQUIDACIÓN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434840"/>
            <a:ext cx="5120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MI 080-8167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120640"/>
            <a:ext cx="2377440" cy="822960"/>
          </a:xfrm>
          <a:prstGeom prst="roundRect">
            <a:avLst>
              <a:gd name="adj" fmla="val 15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148072"/>
            <a:ext cx="2194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 spc="150">
                <a:solidFill>
                  <a:srgbClr val="92D050"/>
                </a:solidFill>
                <a:latin typeface="Calibri"/>
              </a:rPr>
              <a:t>SUPERFICIE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349240"/>
            <a:ext cx="21945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2,00 ha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91840" y="5120640"/>
            <a:ext cx="2697480" cy="822960"/>
          </a:xfrm>
          <a:prstGeom prst="roundRect">
            <a:avLst>
              <a:gd name="adj" fmla="val 15000"/>
            </a:avLst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29000" y="5148072"/>
            <a:ext cx="246888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 spc="150">
                <a:solidFill>
                  <a:srgbClr val="6B7280"/>
                </a:solidFill>
                <a:latin typeface="Calibri"/>
              </a:rPr>
              <a:t>FECHA DEL ESTUDIO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5349240"/>
            <a:ext cx="24688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 i="0">
                <a:solidFill>
                  <a:srgbClr val="1F3864"/>
                </a:solidFill>
                <a:latin typeface="Calibri"/>
              </a:rPr>
              <a:t>01/10/2026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46520" y="1463040"/>
            <a:ext cx="2560320" cy="14356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611112" y="1645920"/>
            <a:ext cx="457200" cy="45720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8040" y="1664208"/>
            <a:ext cx="1737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Método de mercado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11112" y="2240280"/>
            <a:ext cx="22860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3A4457"/>
                </a:solidFill>
                <a:latin typeface="Calibri"/>
              </a:rPr>
              <a:t>Comparación de ofertas depuradas por % de negociación.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44000" y="1463040"/>
            <a:ext cx="2560320" cy="14356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308592" y="1645920"/>
            <a:ext cx="457200" cy="457200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75520" y="1664208"/>
            <a:ext cx="1737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Estadística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08592" y="2240280"/>
            <a:ext cx="22860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3A4457"/>
                </a:solidFill>
                <a:latin typeface="Calibri"/>
              </a:rPr>
              <a:t>Promedio, desviación, CV, límites y asimetría.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46520" y="3035808"/>
            <a:ext cx="2560320" cy="14356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611112" y="3218688"/>
            <a:ext cx="457200" cy="45720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78040" y="3236976"/>
            <a:ext cx="1737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Res. 941 · rural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11112" y="3813048"/>
            <a:ext cx="22860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3A4457"/>
                </a:solidFill>
                <a:latin typeface="Calibri"/>
              </a:rPr>
              <a:t>CV máximo 10 %; sin homogenización por factores.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44000" y="3035808"/>
            <a:ext cx="2560320" cy="14356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308592" y="3218688"/>
            <a:ext cx="457200" cy="457200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3236976"/>
            <a:ext cx="1737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Depuración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08592" y="3813048"/>
            <a:ext cx="22860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3A4457"/>
                </a:solidFill>
                <a:latin typeface="Calibri"/>
              </a:rPr>
              <a:t>Descarte de ofertas no comparables por uso, ubicación o fiabilidad.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46520" y="4608576"/>
            <a:ext cx="2560320" cy="14356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611112" y="4791456"/>
            <a:ext cx="457200" cy="45720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78040" y="4809744"/>
            <a:ext cx="1737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Construcciones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11112" y="5385816"/>
            <a:ext cx="22860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3A4457"/>
                </a:solidFill>
                <a:latin typeface="Calibri"/>
              </a:rPr>
              <a:t>Depreciación Ross-Heidecke por estado.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144000" y="4608576"/>
            <a:ext cx="2560320" cy="14356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308592" y="4791456"/>
            <a:ext cx="457200" cy="457200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75520" y="4809744"/>
            <a:ext cx="1737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Liquidación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308592" y="5385816"/>
            <a:ext cx="22860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3A4457"/>
                </a:solidFill>
                <a:latin typeface="Calibri"/>
              </a:rPr>
              <a:t>Terreno + construcciones, redondeo a la centena.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 rotWithShape="1">
            <a:gsLst>
              <a:gs pos="0">
                <a:srgbClr val="1F3864"/>
              </a:gs>
              <a:gs pos="100000">
                <a:srgbClr val="2F5597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914400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flipH="1">
            <a:off x="10728655" y="0"/>
            <a:ext cx="1463040" cy="1005840"/>
          </a:xfrm>
          <a:prstGeom prst="rtTriangl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323015" y="128016"/>
            <a:ext cx="566928" cy="566928"/>
          </a:xfrm>
          <a:prstGeom prst="ellipse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1F3864"/>
                </a:solidFill>
                <a:latin typeface="Calibr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2F5597"/>
                </a:solidFill>
                <a:latin typeface="Calibri"/>
              </a:rPr>
              <a:t>MERCADO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5488"/>
            <a:ext cx="10058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Ofertas de mercado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0515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Hoja MERCADO RURAL · valores depurados por % de negociación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73952"/>
            <a:ext cx="11094415" cy="9525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1F3864"/>
                </a:solidFill>
                <a:latin typeface="Calibri"/>
              </a:rPr>
              <a:t>Andrés Felipe Cuartas Montoya  ·  RAA 1.128.391.782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6655" y="651052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rural  ·  4 de 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417320"/>
            <a:ext cx="11109960" cy="4754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85800" y="1554480"/>
          <a:ext cx="10835637" cy="4114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63061"/>
                <a:gridCol w="3982329"/>
                <a:gridCol w="833510"/>
                <a:gridCol w="1111347"/>
                <a:gridCol w="648286"/>
                <a:gridCol w="1203960"/>
                <a:gridCol w="1203960"/>
                <a:gridCol w="1389184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73152" marR="73152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Ubicación</a:t>
                      </a:r>
                    </a:p>
                  </a:txBody>
                  <a:tcPr marL="73152" marR="73152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Área ha</a:t>
                      </a:r>
                    </a:p>
                  </a:txBody>
                  <a:tcPr marL="73152" marR="73152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Valor pedido</a:t>
                      </a:r>
                    </a:p>
                  </a:txBody>
                  <a:tcPr marL="73152" marR="73152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% neg.</a:t>
                      </a:r>
                    </a:p>
                  </a:txBody>
                  <a:tcPr marL="73152" marR="73152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Valor depurado</a:t>
                      </a:r>
                    </a:p>
                  </a:txBody>
                  <a:tcPr marL="73152" marR="73152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Valor $/ha</a:t>
                      </a:r>
                    </a:p>
                  </a:txBody>
                  <a:tcPr marL="73152" marR="73152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Comparabilidad</a:t>
                      </a:r>
                    </a:p>
                  </a:txBody>
                  <a:tcPr marL="73152" marR="73152" marT="18288" marB="18288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Dibulla, sobre Troncal del Caribe, cerca a Ciénaga…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301,00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$ 7.826 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$ 7.043 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7863C"/>
                          </a:solidFill>
                          <a:latin typeface="Calibri"/>
                        </a:rPr>
                        <a:t>$ 23,40 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7863C"/>
                          </a:solidFill>
                          <a:latin typeface="Calibri"/>
                        </a:rPr>
                        <a:t>ALTA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Camarones II, sector Cachaca 1, Riohacha – frente a…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0,54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$ 750 M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$ 675 M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$ 1.250,00 M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DESCARTADA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La Guija, a 5 km de El Retiro, Riohacha (vía destap…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6,00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$ 3.300 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$ 2.970 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$ 495,00 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DESCARTADA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Riohacha, frente al mar (~40 m de playa)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1,00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$ 750 M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$ 675 M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$ 675,00 M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DESCARTADA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Chingale / Mingueo, Dibulla – 250 m de frente de pl…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15,00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$ 6.750 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$ 6.075 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$ 405,00 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DESCARTADA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Palomino, Dibulla – 25 m de frente de playa × 400 m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1,00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$ 800 M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$ 720 M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$ 720,00 M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DESCARTADA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Estribaciones Sierra Nevada, Riohacha – 10 min del…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50,00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$ 1.500 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$ 1.350 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$ 27,00 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DESCARTADA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Riohacha – "lotes para proyectos turísticos", mínim…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1.000,00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$ 1.750 M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$ 1.575 M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$ 1,57 M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DESCARTADA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85800" y="5806440"/>
            <a:ext cx="10789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M = millones de pesos. ALTA = comparable en uso agropecuario · DESCARTADA = turístico, playa, campestre o dato no confiable.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 rotWithShape="1">
            <a:gsLst>
              <a:gs pos="0">
                <a:srgbClr val="1F3864"/>
              </a:gs>
              <a:gs pos="100000">
                <a:srgbClr val="2F5597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914400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flipH="1">
            <a:off x="10728655" y="0"/>
            <a:ext cx="1463040" cy="1005840"/>
          </a:xfrm>
          <a:prstGeom prst="rtTriangl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323015" y="128016"/>
            <a:ext cx="566928" cy="566928"/>
          </a:xfrm>
          <a:prstGeom prst="ellipse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1F3864"/>
                </a:solidFill>
                <a:latin typeface="Calibr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2F5597"/>
                </a:solidFill>
                <a:latin typeface="Calibri"/>
              </a:rPr>
              <a:t>MERCADO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5488"/>
            <a:ext cx="10058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Oferta comparable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0515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Ofertas vigentes con uso agropecuario · detalle de la fuente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73952"/>
            <a:ext cx="11094415" cy="9525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1F3864"/>
                </a:solidFill>
                <a:latin typeface="Calibri"/>
              </a:rPr>
              <a:t>Andrés Felipe Cuartas Montoya  ·  RAA 1.128.391.782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6655" y="651052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rural  ·  5 de 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463040"/>
            <a:ext cx="11109960" cy="4617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1463040"/>
            <a:ext cx="548640" cy="54864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1645920"/>
            <a:ext cx="3108960" cy="4251959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0F1F3D"/>
              </a:gs>
              <a:gs pos="100000">
                <a:srgbClr val="2F5597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7373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 spc="250">
                <a:solidFill>
                  <a:srgbClr val="92D050"/>
                </a:solidFill>
                <a:latin typeface="Calibri"/>
              </a:rPr>
              <a:t>OFERTA 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103120"/>
            <a:ext cx="274320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$ 23,4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8346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D9D9D9"/>
                </a:solidFill>
                <a:latin typeface="Calibri"/>
              </a:rPr>
              <a:t>por hectárea (depurado)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337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301,00 ha  ·  pedido $ 7.826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1645920"/>
            <a:ext cx="7315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 spc="120">
                <a:solidFill>
                  <a:srgbClr val="6B7280"/>
                </a:solidFill>
                <a:latin typeface="Calibri"/>
              </a:rPr>
              <a:t>UBICACIÓN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1847088"/>
            <a:ext cx="74066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0" i="0">
                <a:solidFill>
                  <a:srgbClr val="3A4457"/>
                </a:solidFill>
                <a:latin typeface="Calibri"/>
              </a:rPr>
              <a:t>Dibulla, sobre Troncal del Caribe, cerca a Ciénaga de Mamavita / La Punta de los Remedios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395728"/>
            <a:ext cx="7315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 spc="120">
                <a:solidFill>
                  <a:srgbClr val="6B7280"/>
                </a:solidFill>
                <a:latin typeface="Calibri"/>
              </a:rPr>
              <a:t>DESCRIPCIÓN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2596896"/>
            <a:ext cx="740664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0" i="0">
                <a:solidFill>
                  <a:srgbClr val="3A4457"/>
                </a:solidFill>
                <a:latin typeface="Calibri"/>
              </a:rPr>
              <a:t>Finca agroindustrial y ganadera con potencial turístico, 200 m de frente sobre vía nacional, recursos hídricos abundantes, topografía plana a ondulada, 5 km de la playa y 4 km del casco urbano. Construcciones no detalladas en el anuncio.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3739896"/>
            <a:ext cx="7315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 spc="120">
                <a:solidFill>
                  <a:srgbClr val="6B7280"/>
                </a:solidFill>
                <a:latin typeface="Calibri"/>
              </a:rPr>
              <a:t>FUENTE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3941063"/>
            <a:ext cx="74066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0" i="0">
                <a:solidFill>
                  <a:srgbClr val="3A4457"/>
                </a:solidFill>
                <a:latin typeface="Calibri"/>
              </a:rPr>
              <a:t>Hilton López Inmobiliaria – Luis López Y.M. (cód. 193716709)  ·  publicada 2026-05-06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489704"/>
            <a:ext cx="7315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 spc="120">
                <a:solidFill>
                  <a:srgbClr val="6B7280"/>
                </a:solidFill>
                <a:latin typeface="Calibri"/>
              </a:rPr>
              <a:t>COMPARABILIDAD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4690872"/>
            <a:ext cx="74066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0" i="0">
                <a:solidFill>
                  <a:srgbClr val="3A4457"/>
                </a:solidFill>
                <a:latin typeface="Calibri"/>
              </a:rPr>
              <a:t>ALTA en uso agropecuario y corredor. Diferencias: tamaño (301 ha) y frente sobre la Troncal.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 rotWithShape="1">
            <a:gsLst>
              <a:gs pos="0">
                <a:srgbClr val="1F3864"/>
              </a:gs>
              <a:gs pos="100000">
                <a:srgbClr val="2F5597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914400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flipH="1">
            <a:off x="10728655" y="0"/>
            <a:ext cx="1463040" cy="1005840"/>
          </a:xfrm>
          <a:prstGeom prst="rtTriangl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323015" y="128016"/>
            <a:ext cx="566928" cy="566928"/>
          </a:xfrm>
          <a:prstGeom prst="ellipse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1F3864"/>
                </a:solidFill>
                <a:latin typeface="Calibr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2F5597"/>
                </a:solidFill>
                <a:latin typeface="Calibri"/>
              </a:rPr>
              <a:t>DEPURACIÓN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5488"/>
            <a:ext cx="10058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Ofertas revisadas y descartadas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0515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Criterios por los cuales no se incluyeron en el valor adoptado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73952"/>
            <a:ext cx="11094415" cy="9525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1F3864"/>
                </a:solidFill>
                <a:latin typeface="Calibri"/>
              </a:rPr>
              <a:t>Andrés Felipe Cuartas Montoya  ·  RAA 1.128.391.782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6655" y="651052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rural  ·  6 de 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417320"/>
            <a:ext cx="11109960" cy="4754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1508760"/>
            <a:ext cx="10835640" cy="566928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1609344"/>
            <a:ext cx="365760" cy="365760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F3864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1508760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alibri"/>
              </a:rPr>
              <a:t>Camarones II, sector Cachaca 1, Riohacha – frente a vía principal, ~800 m de la…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508760"/>
            <a:ext cx="1371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/>
            <a:r>
              <a:rPr sz="1100" b="1" i="0">
                <a:solidFill>
                  <a:srgbClr val="3A4457"/>
                </a:solidFill>
                <a:latin typeface="Calibri"/>
              </a:rPr>
              <a:t>$ 1.250,0 M/ha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508760"/>
            <a:ext cx="45720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3A4457"/>
                </a:solidFill>
                <a:latin typeface="Calibri"/>
              </a:rPr>
              <a:t>Lote pequeño con frente a vía y vocación comercial/turística; ~$1.389 M/ha, fuera del rango de suelo agropecuario interior.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2176272"/>
            <a:ext cx="365760" cy="365760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F3864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2075688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alibri"/>
              </a:rPr>
              <a:t>La Guija, a 5 km de El Retiro, Riohacha (vía destapada)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2075688"/>
            <a:ext cx="1371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/>
            <a:r>
              <a:rPr sz="1100" b="1" i="0">
                <a:solidFill>
                  <a:srgbClr val="3A4457"/>
                </a:solidFill>
                <a:latin typeface="Calibri"/>
              </a:rPr>
              <a:t>$ 495,0 M/ha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2075688"/>
            <a:ext cx="45720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3A4457"/>
                </a:solidFill>
                <a:latin typeface="Calibri"/>
              </a:rPr>
              <a:t>Vocación campestre de parcelación (~3 viviendas/ha); ~$550 M/ha, no comparable con uso agropecuario.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2642615"/>
            <a:ext cx="10835640" cy="566928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2960" y="2743199"/>
            <a:ext cx="365760" cy="365760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F3864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2642615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alibri"/>
              </a:rPr>
              <a:t>Riohacha, frente al mar (~40 m de playa)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94960" y="2642615"/>
            <a:ext cx="1371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/>
            <a:r>
              <a:rPr sz="1100" b="1" i="0">
                <a:solidFill>
                  <a:srgbClr val="3A4457"/>
                </a:solidFill>
                <a:latin typeface="Calibri"/>
              </a:rPr>
              <a:t>$ 675,0 M/ha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2642615"/>
            <a:ext cx="45720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3A4457"/>
                </a:solidFill>
                <a:latin typeface="Calibri"/>
              </a:rPr>
              <a:t>Frente de playa; mercado turístico costero distinto al del predio.</a:t>
            </a:r>
          </a:p>
        </p:txBody>
      </p:sp>
      <p:sp>
        <p:nvSpPr>
          <p:cNvPr id="27" name="Oval 26"/>
          <p:cNvSpPr/>
          <p:nvPr/>
        </p:nvSpPr>
        <p:spPr>
          <a:xfrm>
            <a:off x="822960" y="3310127"/>
            <a:ext cx="365760" cy="365760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F3864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3209544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alibri"/>
              </a:rPr>
              <a:t>Chingale / Mingueo, Dibulla – 250 m de frente de playa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3209544"/>
            <a:ext cx="1371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/>
            <a:r>
              <a:rPr sz="1100" b="1" i="0">
                <a:solidFill>
                  <a:srgbClr val="3A4457"/>
                </a:solidFill>
                <a:latin typeface="Calibri"/>
              </a:rPr>
              <a:t>$ 405,0 M/ha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3209544"/>
            <a:ext cx="45720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3A4457"/>
                </a:solidFill>
                <a:latin typeface="Calibri"/>
              </a:rPr>
              <a:t>Frente de playa; ~$450 M/ha refleja valor turístico costero.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3776472"/>
            <a:ext cx="10835640" cy="566928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2960" y="3877055"/>
            <a:ext cx="365760" cy="365760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F3864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3776472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alibri"/>
              </a:rPr>
              <a:t>Palomino, Dibulla – 25 m de frente de playa × 400 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94960" y="3776472"/>
            <a:ext cx="1371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/>
            <a:r>
              <a:rPr sz="1100" b="1" i="0">
                <a:solidFill>
                  <a:srgbClr val="3A4457"/>
                </a:solidFill>
                <a:latin typeface="Calibri"/>
              </a:rPr>
              <a:t>$ 720,0 M/ha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3776472"/>
            <a:ext cx="45720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3A4457"/>
                </a:solidFill>
                <a:latin typeface="Calibri"/>
              </a:rPr>
              <a:t>Frente de playa en el polo turístico de Palomino.</a:t>
            </a:r>
          </a:p>
        </p:txBody>
      </p:sp>
      <p:sp>
        <p:nvSpPr>
          <p:cNvPr id="36" name="Oval 35"/>
          <p:cNvSpPr/>
          <p:nvPr/>
        </p:nvSpPr>
        <p:spPr>
          <a:xfrm>
            <a:off x="822960" y="4443983"/>
            <a:ext cx="365760" cy="365760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F3864"/>
                </a:solidFill>
                <a:latin typeface="Calibri"/>
              </a:rPr>
              <a:t>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4343400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alibri"/>
              </a:rPr>
              <a:t>Estribaciones Sierra Nevada, Riohacha – 10 min del mar, riego en 12 ha, 2 casas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94960" y="4343400"/>
            <a:ext cx="1371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/>
            <a:r>
              <a:rPr sz="1100" b="1" i="0">
                <a:solidFill>
                  <a:srgbClr val="3A4457"/>
                </a:solidFill>
                <a:latin typeface="Calibri"/>
              </a:rPr>
              <a:t>$ 27,0 M/ha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4343400"/>
            <a:ext cx="45720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3A4457"/>
                </a:solidFill>
                <a:latin typeface="Calibri"/>
              </a:rPr>
              <a:t>Comparable en uso (~$30 M/ha), pero el anuncio es de 2019 y figura como NO DISPONIBLE. Solo referencia histórica.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" y="4910327"/>
            <a:ext cx="10835640" cy="566928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22960" y="5010911"/>
            <a:ext cx="365760" cy="365760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F3864"/>
                </a:solidFill>
                <a:latin typeface="Calibri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" y="4910327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alibri"/>
              </a:rPr>
              <a:t>Riohacha – "lotes para proyectos turísticos", mínimo 50 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94960" y="4910327"/>
            <a:ext cx="1371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/>
            <a:r>
              <a:rPr sz="1100" b="1" i="0">
                <a:solidFill>
                  <a:srgbClr val="3A4457"/>
                </a:solidFill>
                <a:latin typeface="Calibri"/>
              </a:rPr>
              <a:t>$ 1,6 M/ha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4910327"/>
            <a:ext cx="45720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3A4457"/>
                </a:solidFill>
                <a:latin typeface="Calibri"/>
              </a:rPr>
              <a:t>Datos inconsistentes (implicaría $175/m²); anuncio no confiable.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 rotWithShape="1">
            <a:gsLst>
              <a:gs pos="0">
                <a:srgbClr val="1F3864"/>
              </a:gs>
              <a:gs pos="100000">
                <a:srgbClr val="2F5597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914400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flipH="1">
            <a:off x="10728655" y="0"/>
            <a:ext cx="1463040" cy="1005840"/>
          </a:xfrm>
          <a:prstGeom prst="rtTriangl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323015" y="128016"/>
            <a:ext cx="566928" cy="566928"/>
          </a:xfrm>
          <a:prstGeom prst="ellipse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1F3864"/>
                </a:solidFill>
                <a:latin typeface="Calibr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2F5597"/>
                </a:solidFill>
                <a:latin typeface="Calibri"/>
              </a:rPr>
              <a:t>ESTADÍSTICA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5488"/>
            <a:ext cx="10058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Valor por hectárea y estadísticos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0515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Muestra general · $ millones por ha (escala logarítmica)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73952"/>
            <a:ext cx="11094415" cy="9525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1F3864"/>
                </a:solidFill>
                <a:latin typeface="Calibri"/>
              </a:rPr>
              <a:t>Andrés Felipe Cuartas Montoya  ·  RAA 1.128.391.782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6655" y="651052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rural  ·  7 de 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417320"/>
            <a:ext cx="7223760" cy="4754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40080" y="1508760"/>
          <a:ext cx="704088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Rectangle 13"/>
          <p:cNvSpPr/>
          <p:nvPr/>
        </p:nvSpPr>
        <p:spPr>
          <a:xfrm>
            <a:off x="868680" y="5870448"/>
            <a:ext cx="164592" cy="16459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5815584"/>
            <a:ext cx="2286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3A4457"/>
                </a:solidFill>
                <a:latin typeface="Calibri"/>
              </a:rPr>
              <a:t>Oferta vigente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5870448"/>
            <a:ext cx="164592" cy="16459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53512" y="5815584"/>
            <a:ext cx="2286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3A4457"/>
                </a:solidFill>
                <a:latin typeface="Calibri"/>
              </a:rPr>
              <a:t>Oferta descartada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1417320"/>
            <a:ext cx="17830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65592" y="1417320"/>
            <a:ext cx="548640" cy="54864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2440" y="1527048"/>
            <a:ext cx="1645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Promedio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1801368"/>
            <a:ext cx="16459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$ 449,6 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75520" y="1417320"/>
            <a:ext cx="17830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040112" y="1417320"/>
            <a:ext cx="548640" cy="54864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6960" y="1527048"/>
            <a:ext cx="1645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Desviación estándar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1801368"/>
            <a:ext cx="16459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$ 435,8 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01000" y="2441448"/>
            <a:ext cx="17830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65592" y="2441448"/>
            <a:ext cx="548640" cy="5486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2551176"/>
            <a:ext cx="1645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Coeficiente de variación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40" y="2825496"/>
            <a:ext cx="16459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700" b="1" i="0">
                <a:solidFill>
                  <a:srgbClr val="C0392B"/>
                </a:solidFill>
                <a:latin typeface="Calibri"/>
              </a:rPr>
              <a:t>96,9 %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75520" y="2441448"/>
            <a:ext cx="17830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040112" y="2441448"/>
            <a:ext cx="548640" cy="54864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66960" y="2551176"/>
            <a:ext cx="1645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Coeficiente de asimetría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2825496"/>
            <a:ext cx="16459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0,69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01000" y="3465576"/>
            <a:ext cx="17830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65592" y="3465576"/>
            <a:ext cx="548640" cy="54864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92440" y="3575304"/>
            <a:ext cx="1645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Límite inferior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92440" y="3849624"/>
            <a:ext cx="16459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$ 13,8 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875520" y="3465576"/>
            <a:ext cx="17830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40112" y="3465576"/>
            <a:ext cx="548640" cy="54864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66960" y="3575304"/>
            <a:ext cx="1645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Límite superior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66960" y="3849624"/>
            <a:ext cx="16459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$ 885,4 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01000" y="4526280"/>
            <a:ext cx="3657600" cy="1645920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0F1F3D"/>
              </a:gs>
              <a:gs pos="100000">
                <a:srgbClr val="2F5597"/>
              </a:gs>
            </a:gsLst>
            <a:lin scaled="0" ang="18900000"/>
          </a:gradFill>
          <a:ln>
            <a:noFill/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0" y="4663440"/>
            <a:ext cx="3291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 spc="250">
                <a:solidFill>
                  <a:srgbClr val="92D050"/>
                </a:solidFill>
                <a:latin typeface="Calibri"/>
              </a:rPr>
              <a:t>VALOR ADOPTADO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0" y="4983480"/>
            <a:ext cx="32918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$ 449,6 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5669280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D9D9D9"/>
                </a:solidFill>
                <a:latin typeface="Calibri"/>
              </a:rPr>
              <a:t>por hectárea · muestra general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 rotWithShape="1">
            <a:gsLst>
              <a:gs pos="0">
                <a:srgbClr val="1F3864"/>
              </a:gs>
              <a:gs pos="100000">
                <a:srgbClr val="2F5597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914400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flipH="1">
            <a:off x="10728655" y="0"/>
            <a:ext cx="1463040" cy="1005840"/>
          </a:xfrm>
          <a:prstGeom prst="rtTriangl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323015" y="128016"/>
            <a:ext cx="566928" cy="566928"/>
          </a:xfrm>
          <a:prstGeom prst="ellipse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1F3864"/>
                </a:solidFill>
                <a:latin typeface="Calibr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2F5597"/>
                </a:solidFill>
                <a:latin typeface="Calibri"/>
              </a:rPr>
              <a:t>CONSTRUCCIONES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5488"/>
            <a:ext cx="10058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Depreciación de construcciones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0515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Método Ross-Heidecke · barra = valor remanente (1 − depreciación)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73952"/>
            <a:ext cx="11094415" cy="9525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1F3864"/>
                </a:solidFill>
                <a:latin typeface="Calibri"/>
              </a:rPr>
              <a:t>Andrés Felipe Cuartas Montoya  ·  RAA 1.128.391.782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6655" y="651052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rural  ·  8 de 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417320"/>
            <a:ext cx="1110996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08760"/>
            <a:ext cx="2103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 spc="100">
                <a:solidFill>
                  <a:srgbClr val="6B7280"/>
                </a:solidFill>
                <a:latin typeface="Calibri"/>
              </a:rPr>
              <a:t>ÍTEM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1508760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 spc="100">
                <a:solidFill>
                  <a:srgbClr val="6B7280"/>
                </a:solidFill>
                <a:latin typeface="Calibri"/>
              </a:rPr>
              <a:t>EDAD / VIDA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1508760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 spc="100">
                <a:solidFill>
                  <a:srgbClr val="6B7280"/>
                </a:solidFill>
                <a:latin typeface="Calibri"/>
              </a:rPr>
              <a:t>ESTADO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1508760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 spc="100">
                <a:solidFill>
                  <a:srgbClr val="6B7280"/>
                </a:solidFill>
                <a:latin typeface="Calibri"/>
              </a:rPr>
              <a:t>REPOSICIÓN $/m²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508760"/>
            <a:ext cx="2377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 spc="100">
                <a:solidFill>
                  <a:srgbClr val="6B7280"/>
                </a:solidFill>
                <a:latin typeface="Calibri"/>
              </a:rPr>
              <a:t>VALOR REMANENTE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1508760"/>
            <a:ext cx="8229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900" b="1" i="0" spc="100">
                <a:solidFill>
                  <a:srgbClr val="6B7280"/>
                </a:solidFill>
                <a:latin typeface="Calibri"/>
              </a:rPr>
              <a:t>ÁREA m²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508760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900" b="1" i="0" spc="100">
                <a:solidFill>
                  <a:srgbClr val="6B7280"/>
                </a:solidFill>
                <a:latin typeface="Calibri"/>
              </a:rPr>
              <a:t>VALOR TOTAL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1874519"/>
            <a:ext cx="10835640" cy="54864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21031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Casa Principal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1874519"/>
            <a:ext cx="10972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3A4457"/>
                </a:solidFill>
                <a:latin typeface="Calibri"/>
              </a:rPr>
              <a:t>30 / 70 años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05072" y="2020823"/>
            <a:ext cx="457200" cy="256032"/>
          </a:xfrm>
          <a:prstGeom prst="roundRect">
            <a:avLst>
              <a:gd name="adj" fmla="val 50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1874519"/>
            <a:ext cx="13716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3A4457"/>
                </a:solidFill>
                <a:latin typeface="Calibri"/>
              </a:rPr>
              <a:t>$ 1.131.400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5080" y="2075687"/>
            <a:ext cx="1737360" cy="146304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355080" y="2075687"/>
            <a:ext cx="1107988" cy="146304"/>
          </a:xfrm>
          <a:prstGeom prst="roundRect">
            <a:avLst>
              <a:gd name="adj" fmla="val 50000"/>
            </a:avLst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1874519"/>
            <a:ext cx="6400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64 %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1874519"/>
            <a:ext cx="8229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3A4457"/>
                </a:solidFill>
                <a:latin typeface="Calibri"/>
              </a:rPr>
              <a:t>97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0" y="1874519"/>
            <a:ext cx="17830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/>
            <a:r>
              <a:rPr sz="1200" b="1" i="0">
                <a:solidFill>
                  <a:srgbClr val="1F3864"/>
                </a:solidFill>
                <a:latin typeface="Calibri"/>
              </a:rPr>
              <a:t>$ 70.034.000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2423160"/>
            <a:ext cx="21031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Casa Mayordomo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360" y="2423160"/>
            <a:ext cx="10972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3A4457"/>
                </a:solidFill>
                <a:latin typeface="Calibri"/>
              </a:rPr>
              <a:t>30 / 70 años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05072" y="2569463"/>
            <a:ext cx="457200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0" y="2423160"/>
            <a:ext cx="13716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3A4457"/>
                </a:solidFill>
                <a:latin typeface="Calibri"/>
              </a:rPr>
              <a:t>$ 1.131.400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55080" y="2624327"/>
            <a:ext cx="1737360" cy="146304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355080" y="2624327"/>
            <a:ext cx="805284" cy="146304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38160" y="2423160"/>
            <a:ext cx="6400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46 %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0" y="2423160"/>
            <a:ext cx="8229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3A4457"/>
                </a:solidFill>
                <a:latin typeface="Calibri"/>
              </a:rPr>
              <a:t>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2640" y="2423160"/>
            <a:ext cx="17830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/>
            <a:r>
              <a:rPr sz="1200" b="1" i="0">
                <a:solidFill>
                  <a:srgbClr val="1F3864"/>
                </a:solidFill>
                <a:latin typeface="Calibri"/>
              </a:rPr>
              <a:t>$ 36.680.000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2971800"/>
            <a:ext cx="10835640" cy="54864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2971800"/>
            <a:ext cx="21031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Casa pequeña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80360" y="2971800"/>
            <a:ext cx="10972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3A4457"/>
                </a:solidFill>
                <a:latin typeface="Calibri"/>
              </a:rPr>
              <a:t>25 / 70 años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005072" y="3118103"/>
            <a:ext cx="457200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3.5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0" y="2971800"/>
            <a:ext cx="13716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3A4457"/>
                </a:solidFill>
                <a:latin typeface="Calibri"/>
              </a:rPr>
              <a:t>$ 1.131.400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55080" y="3172968"/>
            <a:ext cx="1737360" cy="146304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355080" y="3172968"/>
            <a:ext cx="879299" cy="146304"/>
          </a:xfrm>
          <a:prstGeom prst="roundRect">
            <a:avLst>
              <a:gd name="adj" fmla="val 50000"/>
            </a:avLst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38160" y="2971800"/>
            <a:ext cx="6400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51 %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69680" y="2971800"/>
            <a:ext cx="8229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3A4457"/>
                </a:solidFill>
                <a:latin typeface="Calibri"/>
              </a:rPr>
              <a:t>53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92640" y="2971800"/>
            <a:ext cx="17830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/>
            <a:r>
              <a:rPr sz="1200" b="1" i="0">
                <a:solidFill>
                  <a:srgbClr val="1F3864"/>
                </a:solidFill>
                <a:latin typeface="Calibri"/>
              </a:rPr>
              <a:t>$ 30.369.000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3520440"/>
            <a:ext cx="21031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Bodega principal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80360" y="3520440"/>
            <a:ext cx="10972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3A4457"/>
                </a:solidFill>
                <a:latin typeface="Calibri"/>
              </a:rPr>
              <a:t>30 / 70 años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005072" y="3666744"/>
            <a:ext cx="457200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54880" y="3520440"/>
            <a:ext cx="13716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3A4457"/>
                </a:solidFill>
                <a:latin typeface="Calibri"/>
              </a:rPr>
              <a:t>$ 1.286.778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355080" y="3721608"/>
            <a:ext cx="1737360" cy="146304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355080" y="3721608"/>
            <a:ext cx="571414" cy="146304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138160" y="3520440"/>
            <a:ext cx="6400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33 %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69680" y="3520440"/>
            <a:ext cx="8229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3A4457"/>
                </a:solidFill>
                <a:latin typeface="Calibri"/>
              </a:rPr>
              <a:t>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92640" y="3520440"/>
            <a:ext cx="17830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/>
            <a:r>
              <a:rPr sz="1200" b="1" i="0">
                <a:solidFill>
                  <a:srgbClr val="1F3864"/>
                </a:solidFill>
                <a:latin typeface="Calibri"/>
              </a:rPr>
              <a:t>$ 14.805.000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85800" y="4069080"/>
            <a:ext cx="10835640" cy="54864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" y="4069080"/>
            <a:ext cx="21031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Bodega auxiliar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880360" y="4069080"/>
            <a:ext cx="10972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3A4457"/>
                </a:solidFill>
                <a:latin typeface="Calibri"/>
              </a:rPr>
              <a:t>30 / 50 años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005072" y="4215384"/>
            <a:ext cx="457200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754880" y="4069080"/>
            <a:ext cx="13716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3A4457"/>
                </a:solidFill>
                <a:latin typeface="Calibri"/>
              </a:rPr>
              <a:t>$ 1.286.778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355080" y="4270248"/>
            <a:ext cx="1737360" cy="146304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355080" y="4270248"/>
            <a:ext cx="428224" cy="146304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138160" y="4069080"/>
            <a:ext cx="6400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25 %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869680" y="4069080"/>
            <a:ext cx="8229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3A4457"/>
                </a:solidFill>
                <a:latin typeface="Calibri"/>
              </a:rPr>
              <a:t>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4069080"/>
            <a:ext cx="17830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/>
            <a:r>
              <a:rPr sz="1200" b="1" i="0">
                <a:solidFill>
                  <a:srgbClr val="1F3864"/>
                </a:solidFill>
                <a:latin typeface="Calibri"/>
              </a:rPr>
              <a:t>$ 8.876.000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4617720"/>
            <a:ext cx="21031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Cuarto útil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80360" y="4617720"/>
            <a:ext cx="10972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3A4457"/>
                </a:solidFill>
                <a:latin typeface="Calibri"/>
              </a:rPr>
              <a:t>30 / 70 años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005072" y="4764024"/>
            <a:ext cx="457200" cy="256032"/>
          </a:xfrm>
          <a:prstGeom prst="roundRect">
            <a:avLst>
              <a:gd name="adj" fmla="val 50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754880" y="4617720"/>
            <a:ext cx="13716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3A4457"/>
                </a:solidFill>
                <a:latin typeface="Calibri"/>
              </a:rPr>
              <a:t>$ 1.231.701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355080" y="4818888"/>
            <a:ext cx="1737360" cy="146304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6355080" y="4818888"/>
            <a:ext cx="987316" cy="146304"/>
          </a:xfrm>
          <a:prstGeom prst="roundRect">
            <a:avLst>
              <a:gd name="adj" fmla="val 50000"/>
            </a:avLst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138160" y="4617720"/>
            <a:ext cx="6400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57 %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69680" y="4617720"/>
            <a:ext cx="8229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3A4457"/>
                </a:solidFill>
                <a:latin typeface="Calibri"/>
              </a:rPr>
              <a:t>17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692640" y="4617720"/>
            <a:ext cx="17830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/>
            <a:r>
              <a:rPr sz="1200" b="1" i="0">
                <a:solidFill>
                  <a:srgbClr val="1F3864"/>
                </a:solidFill>
                <a:latin typeface="Calibri"/>
              </a:rPr>
              <a:t>$ 11.900.000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85800" y="5212079"/>
            <a:ext cx="10835640" cy="54864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0F1F3D"/>
              </a:gs>
              <a:gs pos="100000">
                <a:srgbClr val="2F5597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8680" y="5212079"/>
            <a:ext cx="36576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 spc="100">
                <a:solidFill>
                  <a:srgbClr val="92D050"/>
                </a:solidFill>
                <a:latin typeface="Calibri"/>
              </a:rPr>
              <a:t>TOTAL CONSTRUCCIONES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869680" y="5212079"/>
            <a:ext cx="8229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alibri"/>
              </a:rPr>
              <a:t>300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92640" y="5212079"/>
            <a:ext cx="17830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  <a:latin typeface="Calibri"/>
              </a:rPr>
              <a:t>$ 172.664.000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 rotWithShape="1">
            <a:gsLst>
              <a:gs pos="0">
                <a:srgbClr val="1F3864"/>
              </a:gs>
              <a:gs pos="100000">
                <a:srgbClr val="2F5597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914400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flipH="1">
            <a:off x="10728655" y="0"/>
            <a:ext cx="1463040" cy="1005840"/>
          </a:xfrm>
          <a:prstGeom prst="rtTriangl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323015" y="128016"/>
            <a:ext cx="566928" cy="566928"/>
          </a:xfrm>
          <a:prstGeom prst="ellipse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1F3864"/>
                </a:solidFill>
                <a:latin typeface="Calibri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2F5597"/>
                </a:solidFill>
                <a:latin typeface="Calibri"/>
              </a:rPr>
              <a:t>LIQUIDACIÓN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5488"/>
            <a:ext cx="10058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Liquidación del avalúo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0515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Terreno + construcciones · totales redondeados a la centena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73952"/>
            <a:ext cx="11094415" cy="9525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1F3864"/>
                </a:solidFill>
                <a:latin typeface="Calibri"/>
              </a:rPr>
              <a:t>Andrés Felipe Cuartas Montoya  ·  RAA 1.128.391.782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6655" y="651052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rural  ·  9 de 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463040"/>
            <a:ext cx="11109960" cy="12344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0F1F3D"/>
              </a:gs>
              <a:gs pos="100000">
                <a:srgbClr val="2F5597"/>
              </a:gs>
            </a:gsLst>
            <a:lin scaled="0" ang="0"/>
          </a:gradFill>
          <a:ln>
            <a:noFill/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572768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 spc="250">
                <a:solidFill>
                  <a:srgbClr val="92D050"/>
                </a:solidFill>
                <a:latin typeface="Calibri"/>
              </a:rPr>
              <a:t>VALOR TOTAL DEL AVALÚO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828800"/>
            <a:ext cx="5486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$ 1.071.907.800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627632"/>
            <a:ext cx="5029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 spc="250">
                <a:solidFill>
                  <a:srgbClr val="92D050"/>
                </a:solidFill>
                <a:latin typeface="Calibri"/>
              </a:rPr>
              <a:t>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874519"/>
            <a:ext cx="51206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MIL SETENTA Y UN MILLONES NOVECIENTOS SIETE MIL OCHOCIENTOS PESOS MLV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48640" y="2880360"/>
          <a:ext cx="6949438" cy="32461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42478"/>
                <a:gridCol w="677994"/>
                <a:gridCol w="847492"/>
                <a:gridCol w="1355988"/>
                <a:gridCol w="1525486"/>
              </a:tblGrid>
              <a:tr h="360680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Concepto</a:t>
                      </a:r>
                    </a:p>
                  </a:txBody>
                  <a:tcPr marL="73152" marR="73152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Unidad</a:t>
                      </a:r>
                    </a:p>
                  </a:txBody>
                  <a:tcPr marL="73152" marR="73152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Cantidad</a:t>
                      </a:r>
                    </a:p>
                  </a:txBody>
                  <a:tcPr marL="73152" marR="73152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Valor unitario</a:t>
                      </a:r>
                    </a:p>
                  </a:txBody>
                  <a:tcPr marL="73152" marR="73152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Valor total</a:t>
                      </a:r>
                    </a:p>
                  </a:txBody>
                  <a:tcPr marL="73152" marR="73152" marT="18288" marB="18288" anchor="ctr">
                    <a:solidFill>
                      <a:srgbClr val="1F3864"/>
                    </a:solidFill>
                  </a:tcPr>
                </a:tc>
              </a:tr>
              <a:tr h="36068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Terreno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Ha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2,00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$ 449.621.900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$ 899.243.800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6068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Casa Principal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m²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$ 722.000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$ 70.034.000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</a:tr>
              <a:tr h="36068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Casa Mayordomo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m²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$ 524.000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$ 36.680.000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6068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Casa Pequeña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m²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$ 573.000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$ 30.369.000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</a:tr>
              <a:tr h="36068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Bodega Principal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m²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$ 423.000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$ 14.805.000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6068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Bodega Auxiliar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m²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$ 317.000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$ 8.876.000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</a:tr>
              <a:tr h="36068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Cuarto Útil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m²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$ 700.000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$ 11.900.000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6068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B33"/>
                          </a:solidFill>
                          <a:latin typeface="Calibri"/>
                        </a:rPr>
                        <a:t>VALOR TOTAL DEL AVALÚO</a:t>
                      </a:r>
                    </a:p>
                  </a:txBody>
                  <a:tcPr marL="73152" marR="73152" marT="18288" marB="18288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62B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18288" marB="18288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62B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18288" marB="18288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62B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18288" marB="18288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62B33"/>
                          </a:solidFill>
                          <a:latin typeface="Calibri"/>
                        </a:rPr>
                        <a:t>$ 1.071.907.800</a:t>
                      </a:r>
                    </a:p>
                  </a:txBody>
                  <a:tcPr marL="73152" marR="73152" marT="18288" marB="18288" anchor="ctr">
                    <a:solidFill>
                      <a:srgbClr val="E2EFDA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7680960" y="2880360"/>
            <a:ext cx="3977639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0" y="2971800"/>
            <a:ext cx="3657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 spc="100">
                <a:solidFill>
                  <a:srgbClr val="6B7280"/>
                </a:solidFill>
                <a:latin typeface="Calibri"/>
              </a:rPr>
              <a:t>COMPOSICIÓN DEL VALOR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7726679" y="3200400"/>
          <a:ext cx="2194560" cy="2194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Rectangle 20"/>
          <p:cNvSpPr/>
          <p:nvPr/>
        </p:nvSpPr>
        <p:spPr>
          <a:xfrm>
            <a:off x="10012680" y="3685032"/>
            <a:ext cx="146304" cy="1463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2992" y="358444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3A4457"/>
                </a:solidFill>
                <a:latin typeface="Calibri"/>
              </a:rPr>
              <a:t>Terreno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2992" y="381304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83,9 %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12680" y="4325112"/>
            <a:ext cx="146304" cy="146304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2992" y="422452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3A4457"/>
                </a:solidFill>
                <a:latin typeface="Calibri"/>
              </a:rPr>
              <a:t>Constr. principal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445312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6,5 %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12680" y="4965192"/>
            <a:ext cx="146304" cy="146304"/>
          </a:xfrm>
          <a:prstGeom prst="rect">
            <a:avLst/>
          </a:prstGeom>
          <a:solidFill>
            <a:srgbClr val="8FA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22992" y="486460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3A4457"/>
                </a:solidFill>
                <a:latin typeface="Calibri"/>
              </a:rPr>
              <a:t>Constr. anexas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509320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9,6 %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5532120"/>
            <a:ext cx="3657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Construcciones: $ 172,7 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 rotWithShape="1">
            <a:gsLst>
              <a:gs pos="0">
                <a:srgbClr val="1F3864"/>
              </a:gs>
              <a:gs pos="100000">
                <a:srgbClr val="2F5597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914400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flipH="1">
            <a:off x="10728655" y="0"/>
            <a:ext cx="1463040" cy="1005840"/>
          </a:xfrm>
          <a:prstGeom prst="rtTriangl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323015" y="128016"/>
            <a:ext cx="566928" cy="566928"/>
          </a:xfrm>
          <a:prstGeom prst="ellipse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1F3864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2F5597"/>
                </a:solidFill>
                <a:latin typeface="Calibri"/>
              </a:rPr>
              <a:t>CONCLUSIONES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5488"/>
            <a:ext cx="10058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Observaciones y salvedades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0515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Alcance y limitaciones del estudio · responsable técnico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73952"/>
            <a:ext cx="11094415" cy="9525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1F3864"/>
                </a:solidFill>
                <a:latin typeface="Calibri"/>
              </a:rPr>
              <a:t>Andrés Felipe Cuartas Montoya  ·  RAA 1.128.391.782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6655" y="651052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rural  ·  10 de 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463040"/>
            <a:ext cx="7498079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1682496"/>
            <a:ext cx="402336" cy="40233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1463040"/>
            <a:ext cx="6720840" cy="8412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3A4457"/>
                </a:solidFill>
                <a:latin typeface="Calibri"/>
              </a:rPr>
              <a:t>Búsqueda realizada el 01/10/2026 en Fincaraíz, Punto Propiedad y FazWaz. Mercado Libre exigió inicio de sesión y Mitula/Trovit bloquearon el acceso, por lo que no fueron revisados.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395728"/>
            <a:ext cx="7498079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2615184"/>
            <a:ext cx="402336" cy="40233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395728"/>
            <a:ext cx="6720840" cy="8412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3A4457"/>
                </a:solidFill>
                <a:latin typeface="Calibri"/>
              </a:rPr>
              <a:t>Solo se encontró UNA oferta vigente con uso agropecuario en el corredor (finca de 301 ha en Dibulla, ~$26 M/ha pedido). La oferta pública en línea de la zona está dominada por lotes turísticos de playa y lotes comerciales sobre la Troncal, que no son comparables con un predio agropecuario interior situado a 1,5–2 km de la vía.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28416"/>
            <a:ext cx="7498079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3547872"/>
            <a:ext cx="402336" cy="40233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328416"/>
            <a:ext cx="6720840" cy="8412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3A4457"/>
                </a:solidFill>
                <a:latin typeface="Calibri"/>
              </a:rPr>
              <a:t>La tabla de mercado incluye, además de la oferta agropecuaria vigente (No. 1), las 7 ofertas descartadas (No. 2 a 8), vinculadas por fórmula a la sección inferior. Como son lotes turísticos, de playa o campestres, el promedio, la desviación estándar y el coeficiente de variación no son representativos del suelo agropecuario interior; el valor adoptado no se calcula con ellos y debe soportarse con ofertas de campo (avisos en s…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61104"/>
            <a:ext cx="7498079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13232" y="4480560"/>
            <a:ext cx="402336" cy="40233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4261104"/>
            <a:ext cx="6720840" cy="8412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3A4457"/>
                </a:solidFill>
                <a:latin typeface="Calibri"/>
              </a:rPr>
              <a:t>El % de negociación (col. D) queda en 10 % porque no se obtuvo valor depurado; debe ajustarse con la negociación que confirme la fuente.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193792"/>
            <a:ext cx="7498079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5413248"/>
            <a:ext cx="402336" cy="40233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5193792"/>
            <a:ext cx="6720840" cy="8412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3A4457"/>
                </a:solidFill>
                <a:latin typeface="Calibri"/>
              </a:rPr>
              <a:t>La oferta de 301 ha tiene frente sobre la Troncal y un tamaño muy superior; dado que la Res. 941/2026 prohíbe la homogenización por factores, su uso debe sustentarse por similitud y no mediante ajustes.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75320" y="1463040"/>
            <a:ext cx="3383280" cy="466344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0F1F3D"/>
              </a:gs>
              <a:gs pos="100000">
                <a:srgbClr val="2F5597"/>
              </a:gs>
            </a:gsLst>
            <a:lin scaled="0" ang="18000000"/>
          </a:gradFill>
          <a:ln>
            <a:noFill/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3920" y="1783080"/>
            <a:ext cx="2926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000" b="1" i="0" spc="300">
                <a:solidFill>
                  <a:srgbClr val="92D050"/>
                </a:solidFill>
                <a:latin typeface="Calibri"/>
              </a:rPr>
              <a:t>AVALUADOR</a:t>
            </a:r>
          </a:p>
        </p:txBody>
      </p:sp>
      <p:sp>
        <p:nvSpPr>
          <p:cNvPr id="29" name="Oval 28"/>
          <p:cNvSpPr/>
          <p:nvPr/>
        </p:nvSpPr>
        <p:spPr>
          <a:xfrm>
            <a:off x="9509760" y="2194560"/>
            <a:ext cx="914400" cy="914400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AF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3246120"/>
            <a:ext cx="292608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Andrés Felipe Cuartas Montoya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4114800"/>
            <a:ext cx="29260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300" b="1" i="0">
                <a:solidFill>
                  <a:srgbClr val="92D050"/>
                </a:solidFill>
                <a:latin typeface="Calibri"/>
              </a:rPr>
              <a:t>RAA 1.128.391.782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0" y="5257800"/>
            <a:ext cx="2560320" cy="12000"/>
          </a:xfrm>
          <a:prstGeom prst="rect">
            <a:avLst/>
          </a:prstGeom>
          <a:solidFill>
            <a:srgbClr val="8FA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03920" y="5303520"/>
            <a:ext cx="2926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000" b="0" i="0">
                <a:solidFill>
                  <a:srgbClr val="8FAADC"/>
                </a:solidFill>
                <a:latin typeface="Calibri"/>
              </a:rPr>
              <a:t>Firma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5669280"/>
            <a:ext cx="29260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Fecha del estudio: 01/10/2026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